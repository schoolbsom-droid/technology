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بداية" id="{D1F0AEEF-E68D-2ED0-8647-6FC2D5BFA38C}">
          <p14:sldIdLst>
            <p14:sldId id="256"/>
            <p14:sldId id="257"/>
          </p14:sldIdLst>
        </p14:section>
        <p14:section name="الهدف والتقنية" id="{A15E7666-311B-7AF9-6C3D-5789E7484D84}">
          <p14:sldIdLst>
            <p14:sldId id="258"/>
            <p14:sldId id="259"/>
          </p14:sldIdLst>
        </p14:section>
        <p14:section name="الذكاء الاصطناعي" id="{F3B3662B-810E-CC5E-BFC5-FB13A12E477F}">
          <p14:sldIdLst>
            <p14:sldId id="260"/>
            <p14:sldId id="261"/>
            <p14:sldId id="262"/>
            <p14:sldId id="263"/>
            <p14:sldId id="264"/>
          </p14:sldIdLst>
        </p14:section>
        <p14:section name="الأدوات والتحدي" id="{E9BF6A9D-9BAB-D15B-8DC1-A2CD226B4AC5}">
          <p14:sldIdLst>
            <p14:sldId id="265"/>
            <p14:sldId id="266"/>
          </p14:sldIdLst>
        </p14:section>
        <p14:section name="اختبري نفسك" id="{B17BC670-C345-AD67-EA91-9AA4CE8A08A8}">
          <p14:sldIdLst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الختام" id="{0F8104BB-FAEC-0E1D-4CC6-FC2FDF94C4D1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291465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55C9BE0A-89B5-FD44-93E7-61F26280A98E}" type="datetimeFigureOut">
              <a:rPr lang="ar-SA" smtClean="0"/>
              <a:t>22 ربيع الثاني، 1448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291465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0814386F-A537-994C-A5C3-FAD9653ED0F4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04356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رحبي بالطالبات وعرفي بنفسك. اضغطي على زر ابدئي الرحلة للانتقال إلى القائمة الرئيسية.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القائمة الرئيسية. اضغطي على أي بطاقة للانتقال إليها، وفي كل شريحة زر للعودة هنا. يمكن ترك الطالبات يخترن الترتيب.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الهدف الأساسي من الدورة هو دعم التعليم والتعلم لدى الطالبات. وهذه ثلاث نتائج نريد أن تخرج بها كل طالبة.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اطلبي من الطالبات أن تقرأ كل واحدة المشكلة التي تشبهها. اضغطي على صف الذكاء الاصطناعي للانتقال إلى وحدته.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الفكرة الأساسية: الذكاء الاصطناعي يقترح، والقرار قرارك. ثلاث خطوات بسيطة: اسألي، اختاري، طوّري.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اشرحي المعادلة: خمسة عناصر تجعل الطلب واضحًا. اقرئي المثال بصوت عال مع الطالبات.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كل طريقة قالب جاهز. استبدلي الكلمات بين الأقواس بموضوعك. يمكن أن تجرب كل مجموعة طريقة مختلفة.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أربع قواعد للاستخدام المسؤول. اربطيها بالاختبار القصير في نهاية الدورة.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أعطي الطالبات ثلاث دقائق للتجربة على أجهزتهن أو في مجموعات. بعدها اطلبي من مجموعتين عرض أفضل فكرة.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عرفي كل أداة في جملة واحدة. يمكن تخصيص محطة لكل أداة في الدورة العملية.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اطلبي من كل مجموعة اختيار تحدٍّ. تبدأ بسؤال الذكاء الاصطناعي عن أفكار ثم تنفذ العمل بالأداة وتعرضه.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السؤال الأول. الإجابة الصحيحة هي 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السؤال الثاني. الإجابة الصحيحة هي 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نقيس الأثر على أربعة مستويات ونتابع الطالبات على مراحل حتى تستمر الفائدة.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اختمي بالتعهد: تكتب كل طالبة الأداة التي ستستخدمها هذا الأسبوع. ثم اشكري الحضور.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108960" y="1051560"/>
            <a:ext cx="55778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r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3108960" y="2697480"/>
            <a:ext cx="55778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2600" b="1" dirty="0">
                <a:solidFill>
                  <a:schemeClr val="accent4"/>
                </a:solidFill>
              </a:defRPr>
            </a:lvl1pPr>
          </a:lstStyle>
          <a:p>
            <a:pPr marL="0" indent="0" algn="r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r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0" y="47548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0" y="47548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slide" Target="slide3.xml"/><Relationship Id="rId7" Type="http://schemas.openxmlformats.org/officeDocument/2006/relationships/slide" Target="slide1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0.xml"/><Relationship Id="rId5" Type="http://schemas.openxmlformats.org/officeDocument/2006/relationships/slide" Target="slide5.xml"/><Relationship Id="rId4" Type="http://schemas.openxmlformats.org/officeDocument/2006/relationships/slide" Target="slide4.xml"/><Relationship Id="rId9" Type="http://schemas.openxmlformats.org/officeDocument/2006/relationships/slide" Target="slide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slide" Target="slide2.xml"/><Relationship Id="rId4" Type="http://schemas.openxmlformats.org/officeDocument/2006/relationships/slide" Target="slide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slide" Target="slid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slide" Target="slid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slide" Target="slide2.xml"/><Relationship Id="rId4" Type="http://schemas.openxmlformats.org/officeDocument/2006/relationships/slide" Target="slide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slide" Target="slide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slide" Target="slid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دائرة أدوات"/>
          <p:cNvSpPr/>
          <p:nvPr/>
        </p:nvSpPr>
        <p:spPr>
          <a:xfrm>
            <a:off x="411480" y="502920"/>
            <a:ext cx="2286000" cy="22860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دائرة أدوات label"/>
          <p:cNvSpPr txBox="1"/>
          <p:nvPr/>
        </p:nvSpPr>
        <p:spPr>
          <a:xfrm>
            <a:off x="411480" y="5029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أدوات</a:t>
            </a:r>
            <a:endParaRPr lang="ar-SA" sz="2000" dirty="0"/>
          </a:p>
        </p:txBody>
      </p:sp>
      <p:sp>
        <p:nvSpPr>
          <p:cNvPr id="4" name="دائرة أفكار"/>
          <p:cNvSpPr/>
          <p:nvPr/>
        </p:nvSpPr>
        <p:spPr>
          <a:xfrm>
            <a:off x="1828800" y="2423160"/>
            <a:ext cx="1325880" cy="1325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دائرة أفكار label"/>
          <p:cNvSpPr txBox="1"/>
          <p:nvPr/>
        </p:nvSpPr>
        <p:spPr>
          <a:xfrm>
            <a:off x="1828800" y="242316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أفكار</a:t>
            </a:r>
            <a:endParaRPr lang="ar-SA" sz="1800" dirty="0"/>
          </a:p>
        </p:txBody>
      </p:sp>
      <p:sp>
        <p:nvSpPr>
          <p:cNvPr id="6" name="دائرة إبداع"/>
          <p:cNvSpPr/>
          <p:nvPr/>
        </p:nvSpPr>
        <p:spPr>
          <a:xfrm>
            <a:off x="548640" y="3246120"/>
            <a:ext cx="1143000" cy="1143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دائرة إبداع label"/>
          <p:cNvSpPr txBox="1"/>
          <p:nvPr/>
        </p:nvSpPr>
        <p:spPr>
          <a:xfrm>
            <a:off x="548640" y="324612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إبداع</a:t>
            </a:r>
            <a:endParaRPr lang="ar-SA" sz="1600" dirty="0"/>
          </a:p>
        </p:txBody>
      </p:sp>
      <p:sp>
        <p:nvSpPr>
          <p:cNvPr id="8" name="دائرة صغيرة"/>
          <p:cNvSpPr/>
          <p:nvPr/>
        </p:nvSpPr>
        <p:spPr>
          <a:xfrm>
            <a:off x="2331720" y="77724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0"/>
          <p:cNvSpPr>
            <a:spLocks noGrp="1"/>
          </p:cNvSpPr>
          <p:nvPr>
            <p:ph type="title" idx="100" hasCustomPrompt="1"/>
          </p:nvPr>
        </p:nvSpPr>
        <p:spPr>
          <a:xfrm>
            <a:off x="3108960" y="105156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4400" b="1" dirty="0">
                <a:solidFill>
                  <a:schemeClr val="bg1"/>
                </a:solidFill>
              </a:rPr>
              <a:t>التكنولوجيا في التعليم</a:t>
            </a:r>
            <a:endParaRPr lang="ar-SA" sz="4400" dirty="0"/>
          </a:p>
        </p:txBody>
      </p:sp>
      <p:sp>
        <p:nvSpPr>
          <p:cNvPr id="10" name="Text 0"/>
          <p:cNvSpPr>
            <a:spLocks noGrp="1"/>
          </p:cNvSpPr>
          <p:nvPr>
            <p:ph type="body" idx="101" hasCustomPrompt="1"/>
          </p:nvPr>
        </p:nvSpPr>
        <p:spPr>
          <a:xfrm>
            <a:off x="3108960" y="269748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2600" b="1" dirty="0">
                <a:solidFill>
                  <a:schemeClr val="accent4"/>
                </a:solidFill>
              </a:rPr>
              <a:t>أدوات حديثة للمتعلمات</a:t>
            </a:r>
            <a:endParaRPr lang="ar-SA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35204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chemeClr val="bg1"/>
                </a:solidFill>
              </a:rPr>
              <a:t>تقدمها: أ. أحلام وأ. أمل</a:t>
            </a:r>
            <a:endParaRPr lang="ar-SA" sz="1800" dirty="0"/>
          </a:p>
        </p:txBody>
      </p:sp>
      <p:sp>
        <p:nvSpPr>
          <p:cNvPr id="12" name="زر ابدئي الرحلة"/>
          <p:cNvSpPr/>
          <p:nvPr/>
        </p:nvSpPr>
        <p:spPr>
          <a:xfrm>
            <a:off x="6400800" y="4114800"/>
            <a:ext cx="2286000" cy="594360"/>
          </a:xfrm>
          <a:prstGeom prst="roundRect">
            <a:avLst>
              <a:gd name="adj" fmla="val 2307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41148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ابدئي الرحلة</a:t>
            </a:r>
            <a:endParaRPr lang="ar-SA" sz="1800" dirty="0"/>
          </a:p>
        </p:txBody>
      </p:sp>
      <p:sp>
        <p:nvSpPr>
          <p:cNvPr id="14" name="رابط: الانتقال إلى القائمة الرئيسية">
            <a:hlinkClick r:id="rId3" action="ppaction://hlinksldjump" tooltip="الانتقال إلى القائمة الرئيسية"/>
          </p:cNvPr>
          <p:cNvSpPr/>
          <p:nvPr/>
        </p:nvSpPr>
        <p:spPr>
          <a:xfrm>
            <a:off x="6400800" y="4114800"/>
            <a:ext cx="2286000" cy="594360"/>
          </a:xfrm>
          <a:prstGeom prst="roundRect">
            <a:avLst>
              <a:gd name="adj" fmla="val 23077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ماذا نتعلم اليوم؟</a:t>
            </a:r>
            <a:endParaRPr lang="ar-SA" sz="3600" dirty="0"/>
          </a:p>
        </p:txBody>
      </p:sp>
      <p:sp>
        <p:nvSpPr>
          <p:cNvPr id="4" name="بطاقة هدفنا"/>
          <p:cNvSpPr/>
          <p:nvPr/>
        </p:nvSpPr>
        <p:spPr>
          <a:xfrm>
            <a:off x="6126480" y="1234440"/>
            <a:ext cx="2560320" cy="1280160"/>
          </a:xfrm>
          <a:prstGeom prst="roundRect">
            <a:avLst>
              <a:gd name="adj" fmla="val 10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309360" y="1417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هدفنا</a:t>
            </a:r>
            <a:endParaRPr lang="ar-SA" sz="1800" dirty="0"/>
          </a:p>
          <a:p>
            <a:pPr marL="0" indent="0" algn="r" rtl="1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ماذا سنستفيد؟</a:t>
            </a:r>
            <a:endParaRPr lang="ar-SA" sz="1800" dirty="0"/>
          </a:p>
        </p:txBody>
      </p:sp>
      <p:sp>
        <p:nvSpPr>
          <p:cNvPr id="6" name="رابط: هدفنا">
            <a:hlinkClick r:id="rId3" action="ppaction://hlinksldjump" tooltip="هدفنا"/>
          </p:cNvPr>
          <p:cNvSpPr/>
          <p:nvPr/>
        </p:nvSpPr>
        <p:spPr>
          <a:xfrm>
            <a:off x="6126480" y="1234440"/>
            <a:ext cx="2560320" cy="1280160"/>
          </a:xfrm>
          <a:prstGeom prst="roundRect">
            <a:avLst>
              <a:gd name="adj" fmla="val 10714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7" name="بطاقة التقنية صديقتي"/>
          <p:cNvSpPr/>
          <p:nvPr/>
        </p:nvSpPr>
        <p:spPr>
          <a:xfrm>
            <a:off x="3291840" y="1234440"/>
            <a:ext cx="2560320" cy="1280160"/>
          </a:xfrm>
          <a:prstGeom prst="roundRect">
            <a:avLst>
              <a:gd name="adj" fmla="val 1071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3474720" y="1417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التقنية صديقتي</a:t>
            </a:r>
            <a:endParaRPr lang="ar-SA" sz="1800" dirty="0"/>
          </a:p>
          <a:p>
            <a:pPr marL="0" indent="0" algn="r" rtl="1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أداة لكل مشكلة</a:t>
            </a:r>
            <a:endParaRPr lang="ar-SA" sz="1800" dirty="0"/>
          </a:p>
        </p:txBody>
      </p:sp>
      <p:sp>
        <p:nvSpPr>
          <p:cNvPr id="9" name="رابط: التقنية صديقتي">
            <a:hlinkClick r:id="rId4" action="ppaction://hlinksldjump" tooltip="التقنية صديقتي"/>
          </p:cNvPr>
          <p:cNvSpPr/>
          <p:nvPr/>
        </p:nvSpPr>
        <p:spPr>
          <a:xfrm>
            <a:off x="3291840" y="1234440"/>
            <a:ext cx="2560320" cy="1280160"/>
          </a:xfrm>
          <a:prstGeom prst="roundRect">
            <a:avLst>
              <a:gd name="adj" fmla="val 10714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0" name="بطاقة الذكاء الاصطناعي"/>
          <p:cNvSpPr/>
          <p:nvPr/>
        </p:nvSpPr>
        <p:spPr>
          <a:xfrm>
            <a:off x="457200" y="1234440"/>
            <a:ext cx="2560320" cy="1280160"/>
          </a:xfrm>
          <a:prstGeom prst="roundRect">
            <a:avLst>
              <a:gd name="adj" fmla="val 10714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40080" y="14173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الذكاء الاصطناعي</a:t>
            </a:r>
            <a:endParaRPr lang="ar-SA" sz="1800" dirty="0"/>
          </a:p>
          <a:p>
            <a:pPr marL="0" indent="0" algn="r" rtl="1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كيف نولد الأفكار</a:t>
            </a:r>
            <a:endParaRPr lang="ar-SA" sz="1800" dirty="0"/>
          </a:p>
        </p:txBody>
      </p:sp>
      <p:sp>
        <p:nvSpPr>
          <p:cNvPr id="12" name="رابط: الذكاء الاصطناعي">
            <a:hlinkClick r:id="rId5" action="ppaction://hlinksldjump" tooltip="الذكاء الاصطناعي"/>
          </p:cNvPr>
          <p:cNvSpPr/>
          <p:nvPr/>
        </p:nvSpPr>
        <p:spPr>
          <a:xfrm>
            <a:off x="457200" y="1234440"/>
            <a:ext cx="2560320" cy="1280160"/>
          </a:xfrm>
          <a:prstGeom prst="roundRect">
            <a:avLst>
              <a:gd name="adj" fmla="val 10714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3" name="بطاقة الأدوات"/>
          <p:cNvSpPr/>
          <p:nvPr/>
        </p:nvSpPr>
        <p:spPr>
          <a:xfrm>
            <a:off x="6126480" y="2697480"/>
            <a:ext cx="2560320" cy="1280160"/>
          </a:xfrm>
          <a:prstGeom prst="roundRect">
            <a:avLst>
              <a:gd name="adj" fmla="val 10714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309360" y="2880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الأدوات</a:t>
            </a:r>
            <a:endParaRPr lang="ar-SA" sz="1800" dirty="0"/>
          </a:p>
          <a:p>
            <a:pPr marL="0" indent="0" algn="r" rtl="1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ست أدوات نجربها</a:t>
            </a:r>
            <a:endParaRPr lang="ar-SA" sz="1800" dirty="0"/>
          </a:p>
        </p:txBody>
      </p:sp>
      <p:sp>
        <p:nvSpPr>
          <p:cNvPr id="15" name="رابط: الأدوات">
            <a:hlinkClick r:id="rId6" action="ppaction://hlinksldjump" tooltip="الأدوات"/>
          </p:cNvPr>
          <p:cNvSpPr/>
          <p:nvPr/>
        </p:nvSpPr>
        <p:spPr>
          <a:xfrm>
            <a:off x="6126480" y="2697480"/>
            <a:ext cx="2560320" cy="1280160"/>
          </a:xfrm>
          <a:prstGeom prst="roundRect">
            <a:avLst>
              <a:gd name="adj" fmla="val 10714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6" name="بطاقة تحدي العشر دقائق"/>
          <p:cNvSpPr/>
          <p:nvPr/>
        </p:nvSpPr>
        <p:spPr>
          <a:xfrm>
            <a:off x="3291840" y="2697480"/>
            <a:ext cx="2560320" cy="1280160"/>
          </a:xfrm>
          <a:prstGeom prst="roundRect">
            <a:avLst>
              <a:gd name="adj" fmla="val 10714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3474720" y="2880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تحدي العشر دقائق</a:t>
            </a:r>
            <a:endParaRPr lang="ar-SA" sz="1800" dirty="0"/>
          </a:p>
          <a:p>
            <a:pPr marL="0" indent="0" algn="r" rtl="1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أنتجي عملك</a:t>
            </a:r>
            <a:endParaRPr lang="ar-SA" sz="1800" dirty="0"/>
          </a:p>
        </p:txBody>
      </p:sp>
      <p:sp>
        <p:nvSpPr>
          <p:cNvPr id="18" name="رابط: تحدي العشر دقائق">
            <a:hlinkClick r:id="rId7" action="ppaction://hlinksldjump" tooltip="تحدي العشر دقائق"/>
          </p:cNvPr>
          <p:cNvSpPr/>
          <p:nvPr/>
        </p:nvSpPr>
        <p:spPr>
          <a:xfrm>
            <a:off x="3291840" y="2697480"/>
            <a:ext cx="2560320" cy="1280160"/>
          </a:xfrm>
          <a:prstGeom prst="roundRect">
            <a:avLst>
              <a:gd name="adj" fmla="val 10714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9" name="بطاقة اختبري نفسك"/>
          <p:cNvSpPr/>
          <p:nvPr/>
        </p:nvSpPr>
        <p:spPr>
          <a:xfrm>
            <a:off x="457200" y="2697480"/>
            <a:ext cx="2560320" cy="1280160"/>
          </a:xfrm>
          <a:prstGeom prst="roundRect">
            <a:avLst>
              <a:gd name="adj" fmla="val 10714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640080" y="2880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اختبري نفسك</a:t>
            </a:r>
            <a:endParaRPr lang="ar-SA" sz="1800" dirty="0"/>
          </a:p>
          <a:p>
            <a:pPr marL="0" indent="0" algn="r" rtl="1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سؤالان سريعان</a:t>
            </a:r>
            <a:endParaRPr lang="ar-SA" sz="1800" dirty="0"/>
          </a:p>
        </p:txBody>
      </p:sp>
      <p:sp>
        <p:nvSpPr>
          <p:cNvPr id="21" name="رابط: اختبري نفسك">
            <a:hlinkClick r:id="rId8" action="ppaction://hlinksldjump" tooltip="اختبري نفسك"/>
          </p:cNvPr>
          <p:cNvSpPr/>
          <p:nvPr/>
        </p:nvSpPr>
        <p:spPr>
          <a:xfrm>
            <a:off x="457200" y="2697480"/>
            <a:ext cx="2560320" cy="1280160"/>
          </a:xfrm>
          <a:prstGeom prst="roundRect">
            <a:avLst>
              <a:gd name="adj" fmla="val 10714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22" name="شريط بعد الدورة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640080" y="4114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chemeClr val="accent1"/>
                </a:solidFill>
              </a:rPr>
              <a:t>بعد الدورة: القياس والاستدامة</a:t>
            </a:r>
            <a:endParaRPr lang="ar-SA" sz="1600" dirty="0"/>
          </a:p>
        </p:txBody>
      </p:sp>
      <p:sp>
        <p:nvSpPr>
          <p:cNvPr id="24" name="رابط: بعد الدورة">
            <a:hlinkClick r:id="rId9" action="ppaction://hlinksldjump" tooltip="بعد الدورة"/>
          </p:cNvPr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30000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0" y="47548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هدفنا اليوم</a:t>
            </a:r>
            <a:endParaRPr lang="ar-SA" sz="3600" dirty="0"/>
          </a:p>
        </p:txBody>
      </p:sp>
      <p:sp>
        <p:nvSpPr>
          <p:cNvPr id="4" name="بطاقة الهدف"/>
          <p:cNvSpPr/>
          <p:nvPr/>
        </p:nvSpPr>
        <p:spPr>
          <a:xfrm>
            <a:off x="457200" y="1188720"/>
            <a:ext cx="8229600" cy="1280160"/>
          </a:xfrm>
          <a:prstGeom prst="roundRect">
            <a:avLst>
              <a:gd name="adj" fmla="val 1071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b="1" dirty="0">
                <a:solidFill>
                  <a:schemeClr val="accent4"/>
                </a:solidFill>
              </a:rPr>
              <a:t>الهدف الأساسي</a:t>
            </a:r>
            <a:endParaRPr lang="ar-SA" sz="1400" dirty="0"/>
          </a:p>
          <a:p>
            <a:pPr marL="0" indent="0" algn="r" rtl="1">
              <a:buNone/>
            </a:pPr>
            <a:r>
              <a:rPr lang="ar-SA" altLang="en-US" sz="3200" b="1" dirty="0">
                <a:solidFill>
                  <a:schemeClr val="bg1"/>
                </a:solidFill>
              </a:rPr>
              <a:t>دعم التعليم والتعلم لدى الطالبات</a:t>
            </a:r>
            <a:endParaRPr lang="ar-SA" sz="1400" dirty="0"/>
          </a:p>
        </p:txBody>
      </p:sp>
      <p:sp>
        <p:nvSpPr>
          <p:cNvPr id="6" name="بطاقة رقم 5"/>
          <p:cNvSpPr/>
          <p:nvPr/>
        </p:nvSpPr>
        <p:spPr>
          <a:xfrm>
            <a:off x="6126480" y="2697480"/>
            <a:ext cx="2560320" cy="178308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309360" y="2788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5400" b="1" dirty="0">
                <a:solidFill>
                  <a:schemeClr val="accent2"/>
                </a:solidFill>
              </a:rPr>
              <a:t>5</a:t>
            </a:r>
            <a:endParaRPr lang="ar-SA" sz="54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chemeClr val="tx1"/>
                </a:solidFill>
              </a:rPr>
              <a:t>أدوات تتعرفين عليها</a:t>
            </a:r>
            <a:endParaRPr lang="ar-SA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3977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تجربينها بنفسك أثناء الدورة</a:t>
            </a:r>
            <a:endParaRPr lang="ar-SA" sz="1400" dirty="0"/>
          </a:p>
        </p:txBody>
      </p:sp>
      <p:sp>
        <p:nvSpPr>
          <p:cNvPr id="10" name="بطاقة رقم 1"/>
          <p:cNvSpPr/>
          <p:nvPr/>
        </p:nvSpPr>
        <p:spPr>
          <a:xfrm>
            <a:off x="3291840" y="2697480"/>
            <a:ext cx="2560320" cy="178308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474720" y="2788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5400" b="1" dirty="0">
                <a:solidFill>
                  <a:schemeClr val="accent3"/>
                </a:solidFill>
              </a:rPr>
              <a:t>1</a:t>
            </a:r>
            <a:endParaRPr lang="ar-SA" sz="54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chemeClr val="tx1"/>
                </a:solidFill>
              </a:rPr>
              <a:t>عمل رقمي تنتجينه</a:t>
            </a:r>
            <a:endParaRPr lang="ar-SA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3977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بطاقة أو اختبار أو لوحة أفكار</a:t>
            </a:r>
            <a:endParaRPr lang="ar-SA" sz="1400" dirty="0"/>
          </a:p>
        </p:txBody>
      </p:sp>
      <p:sp>
        <p:nvSpPr>
          <p:cNvPr id="14" name="بطاقة رقم 1"/>
          <p:cNvSpPr/>
          <p:nvPr/>
        </p:nvSpPr>
        <p:spPr>
          <a:xfrm>
            <a:off x="457200" y="2697480"/>
            <a:ext cx="2560320" cy="178308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40080" y="27889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5400" b="1" dirty="0">
                <a:solidFill>
                  <a:schemeClr val="accent5"/>
                </a:solidFill>
              </a:rPr>
              <a:t>1</a:t>
            </a:r>
            <a:endParaRPr lang="ar-SA" sz="54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chemeClr val="tx1"/>
                </a:solidFill>
              </a:rPr>
              <a:t>تعهد أسبوعي</a:t>
            </a:r>
            <a:endParaRPr lang="ar-SA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3977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تلتزمين به لتستمر الفائدة</a:t>
            </a:r>
            <a:endParaRPr lang="ar-SA" sz="1400" dirty="0"/>
          </a:p>
        </p:txBody>
      </p:sp>
      <p:sp>
        <p:nvSpPr>
          <p:cNvPr id="18" name="زر القائمة"/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4617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القائمة الرئيسية</a:t>
            </a:r>
            <a:endParaRPr lang="ar-SA" sz="1200" dirty="0"/>
          </a:p>
        </p:txBody>
      </p:sp>
      <p:sp>
        <p:nvSpPr>
          <p:cNvPr id="20" name="رابط: العودة إلى القائمة الرئيسية">
            <a:hlinkClick r:id="rId3" action="ppaction://hlinksldjump" tooltip="العودة إلى القائمة الرئيسية"/>
          </p:cNvPr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0" y="47548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التقنية صديقتي في الدراسة</a:t>
            </a:r>
            <a:endParaRPr lang="ar-SA" sz="3600" dirty="0"/>
          </a:p>
        </p:txBody>
      </p:sp>
      <p:sp>
        <p:nvSpPr>
          <p:cNvPr id="4" name="مشكلة 1"/>
          <p:cNvSpPr/>
          <p:nvPr/>
        </p:nvSpPr>
        <p:spPr>
          <a:xfrm>
            <a:off x="5394960" y="1234440"/>
            <a:ext cx="3291840" cy="713232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577840" y="123444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أنسى المعلومة بسرعة</a:t>
            </a:r>
            <a:endParaRPr lang="ar-SA" sz="1800" dirty="0"/>
          </a:p>
        </p:txBody>
      </p:sp>
      <p:sp>
        <p:nvSpPr>
          <p:cNvPr id="6" name="سهم 1"/>
          <p:cNvSpPr/>
          <p:nvPr/>
        </p:nvSpPr>
        <p:spPr>
          <a:xfrm>
            <a:off x="4846320" y="1417320"/>
            <a:ext cx="457200" cy="347472"/>
          </a:xfrm>
          <a:prstGeom prst="lef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أداة 1"/>
          <p:cNvSpPr/>
          <p:nvPr/>
        </p:nvSpPr>
        <p:spPr>
          <a:xfrm>
            <a:off x="457200" y="1234440"/>
            <a:ext cx="4206240" cy="713232"/>
          </a:xfrm>
          <a:prstGeom prst="roundRect">
            <a:avLst>
              <a:gd name="adj" fmla="val 1923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0080" y="123444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Quizlet</a:t>
            </a:r>
            <a:endParaRPr lang="ar-SA" sz="1800" dirty="0"/>
          </a:p>
          <a:p>
            <a:pPr marL="0" indent="0" algn="r" rtl="1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بطاقات مراجعة خمس دقائق يوميًا</a:t>
            </a:r>
            <a:endParaRPr lang="ar-SA" sz="1800" dirty="0"/>
          </a:p>
        </p:txBody>
      </p:sp>
      <p:sp>
        <p:nvSpPr>
          <p:cNvPr id="9" name="مشكلة 2"/>
          <p:cNvSpPr/>
          <p:nvPr/>
        </p:nvSpPr>
        <p:spPr>
          <a:xfrm>
            <a:off x="5394960" y="2057400"/>
            <a:ext cx="3291840" cy="713232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577840" y="205740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أمل من المذاكرة</a:t>
            </a:r>
            <a:endParaRPr lang="ar-SA" sz="1800" dirty="0"/>
          </a:p>
        </p:txBody>
      </p:sp>
      <p:sp>
        <p:nvSpPr>
          <p:cNvPr id="11" name="سهم 2"/>
          <p:cNvSpPr/>
          <p:nvPr/>
        </p:nvSpPr>
        <p:spPr>
          <a:xfrm>
            <a:off x="4846320" y="2240280"/>
            <a:ext cx="457200" cy="347472"/>
          </a:xfrm>
          <a:prstGeom prst="lef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أداة 2"/>
          <p:cNvSpPr/>
          <p:nvPr/>
        </p:nvSpPr>
        <p:spPr>
          <a:xfrm>
            <a:off x="457200" y="2057400"/>
            <a:ext cx="4206240" cy="713232"/>
          </a:xfrm>
          <a:prstGeom prst="roundRect">
            <a:avLst>
              <a:gd name="adj" fmla="val 1923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40080" y="205740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Kahoot</a:t>
            </a:r>
            <a:endParaRPr lang="ar-SA" sz="1800" dirty="0"/>
          </a:p>
          <a:p>
            <a:pPr marL="0" indent="0" algn="r" rtl="1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حوّلي المراجعة إلى لعبة مع زميلاتك</a:t>
            </a:r>
            <a:endParaRPr lang="ar-SA" sz="1800" dirty="0"/>
          </a:p>
        </p:txBody>
      </p:sp>
      <p:sp>
        <p:nvSpPr>
          <p:cNvPr id="14" name="مشكلة 3"/>
          <p:cNvSpPr/>
          <p:nvPr/>
        </p:nvSpPr>
        <p:spPr>
          <a:xfrm>
            <a:off x="5394960" y="2880360"/>
            <a:ext cx="3291840" cy="713232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5577840" y="288036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لا أعرف فكرة لمشروعي</a:t>
            </a:r>
            <a:endParaRPr lang="ar-SA" sz="1800" dirty="0"/>
          </a:p>
        </p:txBody>
      </p:sp>
      <p:sp>
        <p:nvSpPr>
          <p:cNvPr id="16" name="سهم 3"/>
          <p:cNvSpPr/>
          <p:nvPr/>
        </p:nvSpPr>
        <p:spPr>
          <a:xfrm>
            <a:off x="4846320" y="3063240"/>
            <a:ext cx="457200" cy="347472"/>
          </a:xfrm>
          <a:prstGeom prst="lef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أداة 3"/>
          <p:cNvSpPr/>
          <p:nvPr/>
        </p:nvSpPr>
        <p:spPr>
          <a:xfrm>
            <a:off x="457200" y="2880360"/>
            <a:ext cx="4206240" cy="713232"/>
          </a:xfrm>
          <a:prstGeom prst="roundRect">
            <a:avLst>
              <a:gd name="adj" fmla="val 1923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640080" y="288036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الذكاء الاصطناعي</a:t>
            </a:r>
            <a:endParaRPr lang="ar-SA" sz="1800" dirty="0"/>
          </a:p>
          <a:p>
            <a:pPr marL="0" indent="0" algn="r" rtl="1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يقترح أفكارًا وأنتِ تختارين</a:t>
            </a:r>
            <a:endParaRPr lang="ar-SA" sz="1800" dirty="0"/>
          </a:p>
        </p:txBody>
      </p:sp>
      <p:sp>
        <p:nvSpPr>
          <p:cNvPr id="19" name="رابط: وحدة الذكاء الاصطناعي">
            <a:hlinkClick r:id="rId3" action="ppaction://hlinksldjump" tooltip="وحدة الذكاء الاصطناعي"/>
          </p:cNvPr>
          <p:cNvSpPr/>
          <p:nvPr/>
        </p:nvSpPr>
        <p:spPr>
          <a:xfrm>
            <a:off x="457200" y="2880360"/>
            <a:ext cx="4206240" cy="713232"/>
          </a:xfrm>
          <a:prstGeom prst="roundRect">
            <a:avLst>
              <a:gd name="adj" fmla="val 19231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20" name="مشكلة 4"/>
          <p:cNvSpPr/>
          <p:nvPr/>
        </p:nvSpPr>
        <p:spPr>
          <a:xfrm>
            <a:off x="5394960" y="3703320"/>
            <a:ext cx="3291840" cy="713232"/>
          </a:xfrm>
          <a:prstGeom prst="roundRect">
            <a:avLst>
              <a:gd name="adj" fmla="val 1923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5577840" y="3703320"/>
            <a:ext cx="2926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أريد عرضًا جميلًا</a:t>
            </a:r>
            <a:endParaRPr lang="ar-SA" sz="1800" dirty="0"/>
          </a:p>
        </p:txBody>
      </p:sp>
      <p:sp>
        <p:nvSpPr>
          <p:cNvPr id="22" name="سهم 4"/>
          <p:cNvSpPr/>
          <p:nvPr/>
        </p:nvSpPr>
        <p:spPr>
          <a:xfrm>
            <a:off x="4846320" y="3886200"/>
            <a:ext cx="457200" cy="347472"/>
          </a:xfrm>
          <a:prstGeom prst="leftArrow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أداة 4"/>
          <p:cNvSpPr/>
          <p:nvPr/>
        </p:nvSpPr>
        <p:spPr>
          <a:xfrm>
            <a:off x="457200" y="3703320"/>
            <a:ext cx="4206240" cy="713232"/>
          </a:xfrm>
          <a:prstGeom prst="roundRect">
            <a:avLst>
              <a:gd name="adj" fmla="val 19231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40080" y="370332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Canva</a:t>
            </a:r>
            <a:endParaRPr lang="ar-SA" sz="1800" dirty="0"/>
          </a:p>
          <a:p>
            <a:pPr marL="0" indent="0" algn="r" rtl="1">
              <a:buNone/>
            </a:pPr>
            <a:r>
              <a:rPr lang="ar-SA" altLang="en-US" sz="1400" dirty="0">
                <a:solidFill>
                  <a:schemeClr val="bg1"/>
                </a:solidFill>
              </a:rPr>
              <a:t>قوالب جاهزة تضعين فيها أفكارك</a:t>
            </a:r>
            <a:endParaRPr lang="ar-SA" sz="1800" dirty="0"/>
          </a:p>
        </p:txBody>
      </p:sp>
      <p:sp>
        <p:nvSpPr>
          <p:cNvPr id="25" name="زر القائمة"/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7200" y="4617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القائمة الرئيسية</a:t>
            </a:r>
            <a:endParaRPr lang="ar-SA" sz="1200" dirty="0"/>
          </a:p>
        </p:txBody>
      </p:sp>
      <p:sp>
        <p:nvSpPr>
          <p:cNvPr id="27" name="رابط: العودة إلى القائمة الرئيسية">
            <a:hlinkClick r:id="rId4" action="ppaction://hlinksldjump" tooltip="العودة إلى القائمة الرئيسية"/>
          </p:cNvPr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0" y="47548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الذكاء الاصطناعي شريكك في التفكير</a:t>
            </a:r>
            <a:endParaRPr lang="ar-SA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أنتِ تسألين وتختارين وتقررين، وهو يقترح عليك</a:t>
            </a:r>
            <a:endParaRPr lang="ar-SA" sz="1800" dirty="0"/>
          </a:p>
        </p:txBody>
      </p:sp>
      <p:sp>
        <p:nvSpPr>
          <p:cNvPr id="5" name="خطوة 1"/>
          <p:cNvSpPr/>
          <p:nvPr/>
        </p:nvSpPr>
        <p:spPr>
          <a:xfrm>
            <a:off x="6126480" y="1783080"/>
            <a:ext cx="2560320" cy="2651760"/>
          </a:xfrm>
          <a:prstGeom prst="roundRect">
            <a:avLst>
              <a:gd name="adj" fmla="val 53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6" name="رقم خطوة 1"/>
          <p:cNvSpPr/>
          <p:nvPr/>
        </p:nvSpPr>
        <p:spPr>
          <a:xfrm>
            <a:off x="7818120" y="196596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رقم خطوة 1 label"/>
          <p:cNvSpPr txBox="1"/>
          <p:nvPr/>
        </p:nvSpPr>
        <p:spPr>
          <a:xfrm>
            <a:off x="781812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600" b="1" dirty="0">
                <a:solidFill>
                  <a:schemeClr val="bg1"/>
                </a:solidFill>
              </a:rPr>
              <a:t>1</a:t>
            </a:r>
            <a:endParaRPr lang="ar-SA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400" b="1" dirty="0">
                <a:solidFill>
                  <a:schemeClr val="tx1"/>
                </a:solidFill>
              </a:rPr>
              <a:t>اسألي</a:t>
            </a:r>
            <a:endParaRPr lang="ar-SA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32918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اكتبي طلبًا واضحًا: من هو، وما موضوعك، ولمن، وكم فكرة تريدين.</a:t>
            </a:r>
            <a:endParaRPr lang="ar-SA" sz="1500" dirty="0"/>
          </a:p>
        </p:txBody>
      </p:sp>
      <p:sp>
        <p:nvSpPr>
          <p:cNvPr id="10" name="خطوة 2"/>
          <p:cNvSpPr/>
          <p:nvPr/>
        </p:nvSpPr>
        <p:spPr>
          <a:xfrm>
            <a:off x="3291840" y="1783080"/>
            <a:ext cx="2560320" cy="2651760"/>
          </a:xfrm>
          <a:prstGeom prst="roundRect">
            <a:avLst>
              <a:gd name="adj" fmla="val 53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11" name="رقم خطوة 2"/>
          <p:cNvSpPr/>
          <p:nvPr/>
        </p:nvSpPr>
        <p:spPr>
          <a:xfrm>
            <a:off x="4983480" y="1965960"/>
            <a:ext cx="685800" cy="6858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رقم خطوة 2 label"/>
          <p:cNvSpPr txBox="1"/>
          <p:nvPr/>
        </p:nvSpPr>
        <p:spPr>
          <a:xfrm>
            <a:off x="498348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600" b="1" dirty="0">
                <a:solidFill>
                  <a:schemeClr val="bg1"/>
                </a:solidFill>
              </a:rPr>
              <a:t>2</a:t>
            </a:r>
            <a:endParaRPr lang="ar-SA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400" b="1" dirty="0">
                <a:solidFill>
                  <a:schemeClr val="tx1"/>
                </a:solidFill>
              </a:rPr>
              <a:t>اختاري</a:t>
            </a:r>
            <a:endParaRPr lang="ar-SA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32918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اقرئي كل الأفكار، ثم اختاري فكرة أو اثنتين تناسبانك.</a:t>
            </a:r>
            <a:endParaRPr lang="ar-SA" sz="1500" dirty="0"/>
          </a:p>
        </p:txBody>
      </p:sp>
      <p:sp>
        <p:nvSpPr>
          <p:cNvPr id="15" name="خطوة 3"/>
          <p:cNvSpPr/>
          <p:nvPr/>
        </p:nvSpPr>
        <p:spPr>
          <a:xfrm>
            <a:off x="457200" y="1783080"/>
            <a:ext cx="2560320" cy="2651760"/>
          </a:xfrm>
          <a:prstGeom prst="roundRect">
            <a:avLst>
              <a:gd name="adj" fmla="val 535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16" name="رقم خطوة 3"/>
          <p:cNvSpPr/>
          <p:nvPr/>
        </p:nvSpPr>
        <p:spPr>
          <a:xfrm>
            <a:off x="2148840" y="1965960"/>
            <a:ext cx="685800" cy="6858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رقم خطوة 3 label"/>
          <p:cNvSpPr txBox="1"/>
          <p:nvPr/>
        </p:nvSpPr>
        <p:spPr>
          <a:xfrm>
            <a:off x="2148840" y="1965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600" b="1" dirty="0">
                <a:solidFill>
                  <a:schemeClr val="bg1"/>
                </a:solidFill>
              </a:rPr>
              <a:t>3</a:t>
            </a:r>
            <a:endParaRPr lang="ar-SA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788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400" b="1" dirty="0">
                <a:solidFill>
                  <a:schemeClr val="tx1"/>
                </a:solidFill>
              </a:rPr>
              <a:t>طوّري</a:t>
            </a:r>
            <a:endParaRPr lang="ar-SA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32918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500" dirty="0">
                <a:solidFill>
                  <a:schemeClr val="tx1"/>
                </a:solidFill>
              </a:rPr>
              <a:t>أضيفي لمستك، وتأكدي من المعلومات، واطلبي تحسين النقاط الضعيفة.</a:t>
            </a:r>
            <a:endParaRPr lang="ar-SA" sz="1500" dirty="0"/>
          </a:p>
        </p:txBody>
      </p:sp>
      <p:sp>
        <p:nvSpPr>
          <p:cNvPr id="20" name="زر القائمة"/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4617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القائمة الرئيسية</a:t>
            </a:r>
            <a:endParaRPr lang="ar-SA" sz="1200" dirty="0"/>
          </a:p>
        </p:txBody>
      </p:sp>
      <p:sp>
        <p:nvSpPr>
          <p:cNvPr id="22" name="رابط: العودة إلى القائمة الرئيسية">
            <a:hlinkClick r:id="rId3" action="ppaction://hlinksldjump" tooltip="العودة إلى القائمة الرئيسية"/>
          </p:cNvPr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0" y="47548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اكتبي طلبًا ناجحًا</a:t>
            </a:r>
            <a:endParaRPr lang="ar-SA" sz="3600" dirty="0"/>
          </a:p>
        </p:txBody>
      </p:sp>
      <p:sp>
        <p:nvSpPr>
          <p:cNvPr id="4" name="عنصر الدور"/>
          <p:cNvSpPr/>
          <p:nvPr/>
        </p:nvSpPr>
        <p:spPr>
          <a:xfrm>
            <a:off x="7223760" y="1234440"/>
            <a:ext cx="1463040" cy="6858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223760" y="12344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الدور</a:t>
            </a:r>
            <a:endParaRPr lang="ar-SA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223760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مدرب أفكار</a:t>
            </a:r>
            <a:endParaRPr lang="ar-SA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995160" y="1234440"/>
            <a:ext cx="228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000" b="1" dirty="0">
                <a:solidFill>
                  <a:schemeClr val="accent1"/>
                </a:solidFill>
              </a:rPr>
              <a:t>+</a:t>
            </a:r>
            <a:endParaRPr lang="ar-SA" sz="2000" dirty="0"/>
          </a:p>
        </p:txBody>
      </p:sp>
      <p:sp>
        <p:nvSpPr>
          <p:cNvPr id="8" name="عنصر الموضوع"/>
          <p:cNvSpPr/>
          <p:nvPr/>
        </p:nvSpPr>
        <p:spPr>
          <a:xfrm>
            <a:off x="5532120" y="1234440"/>
            <a:ext cx="1463040" cy="6858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532120" y="12344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الموضوع</a:t>
            </a:r>
            <a:endParaRPr lang="ar-SA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532120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توفير المياه</a:t>
            </a:r>
            <a:endParaRPr lang="ar-SA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234440"/>
            <a:ext cx="228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000" b="1" dirty="0">
                <a:solidFill>
                  <a:schemeClr val="accent1"/>
                </a:solidFill>
              </a:rPr>
              <a:t>+</a:t>
            </a:r>
            <a:endParaRPr lang="ar-SA" sz="2000" dirty="0"/>
          </a:p>
        </p:txBody>
      </p:sp>
      <p:sp>
        <p:nvSpPr>
          <p:cNvPr id="12" name="عنصر الجمهور"/>
          <p:cNvSpPr/>
          <p:nvPr/>
        </p:nvSpPr>
        <p:spPr>
          <a:xfrm>
            <a:off x="3840480" y="1234440"/>
            <a:ext cx="1463040" cy="6858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40480" y="12344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الجمهور</a:t>
            </a:r>
            <a:endParaRPr lang="ar-SA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840480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زميلاتي</a:t>
            </a:r>
            <a:endParaRPr lang="ar-SA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611880" y="1234440"/>
            <a:ext cx="228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000" b="1" dirty="0">
                <a:solidFill>
                  <a:schemeClr val="accent1"/>
                </a:solidFill>
              </a:rPr>
              <a:t>+</a:t>
            </a:r>
            <a:endParaRPr lang="ar-SA" sz="2000" dirty="0"/>
          </a:p>
        </p:txBody>
      </p:sp>
      <p:sp>
        <p:nvSpPr>
          <p:cNvPr id="16" name="عنصر العدد"/>
          <p:cNvSpPr/>
          <p:nvPr/>
        </p:nvSpPr>
        <p:spPr>
          <a:xfrm>
            <a:off x="2148840" y="1234440"/>
            <a:ext cx="1463040" cy="685800"/>
          </a:xfrm>
          <a:prstGeom prst="roundRect">
            <a:avLst>
              <a:gd name="adj" fmla="val 2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148840" y="12344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العدد</a:t>
            </a:r>
            <a:endParaRPr lang="ar-SA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2148840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5 أفكار</a:t>
            </a:r>
            <a:endParaRPr lang="ar-SA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920240" y="1234440"/>
            <a:ext cx="228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000" b="1" dirty="0">
                <a:solidFill>
                  <a:schemeClr val="accent1"/>
                </a:solidFill>
              </a:rPr>
              <a:t>+</a:t>
            </a:r>
            <a:endParaRPr lang="ar-SA" sz="2000" dirty="0"/>
          </a:p>
        </p:txBody>
      </p:sp>
      <p:sp>
        <p:nvSpPr>
          <p:cNvPr id="20" name="عنصر الشكل"/>
          <p:cNvSpPr/>
          <p:nvPr/>
        </p:nvSpPr>
        <p:spPr>
          <a:xfrm>
            <a:off x="457200" y="1234440"/>
            <a:ext cx="1463040" cy="68580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12344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الشكل</a:t>
            </a:r>
            <a:endParaRPr lang="ar-SA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rtl="1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عنوان وجملة وخطوة</a:t>
            </a:r>
            <a:endParaRPr lang="ar-SA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400" b="1" dirty="0">
                <a:solidFill>
                  <a:schemeClr val="accent1"/>
                </a:solidFill>
              </a:rPr>
              <a:t>مثال على طلب جاهز</a:t>
            </a:r>
            <a:endParaRPr lang="ar-SA" sz="1400" dirty="0"/>
          </a:p>
        </p:txBody>
      </p:sp>
      <p:sp>
        <p:nvSpPr>
          <p:cNvPr id="24" name="مثال الطلب"/>
          <p:cNvSpPr/>
          <p:nvPr/>
        </p:nvSpPr>
        <p:spPr>
          <a:xfrm>
            <a:off x="457200" y="3063240"/>
            <a:ext cx="8229600" cy="1417320"/>
          </a:xfrm>
          <a:prstGeom prst="roundRect">
            <a:avLst>
              <a:gd name="adj" fmla="val 967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31520" y="315468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أنت مدرب أفكار مبدع. أعطني 5 أفكار بسيطة لمشروع عن توفير المياه، موجهة لزميلاتي في الصف. لكل فكرة اكتب عنوانًا وجملة تشرحها وأول خطوة للتنفيذ.</a:t>
            </a:r>
            <a:endParaRPr lang="ar-SA" sz="1800" dirty="0"/>
          </a:p>
        </p:txBody>
      </p:sp>
      <p:sp>
        <p:nvSpPr>
          <p:cNvPr id="26" name="زر القائمة"/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7200" y="4617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القائمة الرئيسية</a:t>
            </a:r>
            <a:endParaRPr lang="ar-SA" sz="1200" dirty="0"/>
          </a:p>
        </p:txBody>
      </p:sp>
      <p:sp>
        <p:nvSpPr>
          <p:cNvPr id="28" name="رابط: العودة إلى القائمة الرئيسية">
            <a:hlinkClick r:id="rId3" action="ppaction://hlinksldjump" tooltip="العودة إلى القائمة الرئيسية"/>
          </p:cNvPr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0" y="47548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أربع طرق لتوليد الأفكار</a:t>
            </a:r>
            <a:endParaRPr lang="ar-SA" sz="3600" dirty="0"/>
          </a:p>
        </p:txBody>
      </p:sp>
      <p:sp>
        <p:nvSpPr>
          <p:cNvPr id="4" name="طريقة العصف الذهني"/>
          <p:cNvSpPr/>
          <p:nvPr/>
        </p:nvSpPr>
        <p:spPr>
          <a:xfrm>
            <a:off x="4709160" y="1234440"/>
            <a:ext cx="3977640" cy="1463040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5" name="رقم طريقة 1"/>
          <p:cNvSpPr/>
          <p:nvPr/>
        </p:nvSpPr>
        <p:spPr>
          <a:xfrm>
            <a:off x="804672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رقم طريقة 1 label"/>
          <p:cNvSpPr txBox="1"/>
          <p:nvPr/>
        </p:nvSpPr>
        <p:spPr>
          <a:xfrm>
            <a:off x="80467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1</a:t>
            </a:r>
            <a:endParaRPr lang="ar-SA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9204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chemeClr val="tx1"/>
                </a:solidFill>
              </a:rPr>
              <a:t>العصف الذهني</a:t>
            </a:r>
            <a:endParaRPr lang="ar-SA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892040" y="192024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أعطني 10 أفكار عن [موضوعك] ورتبها من الأسهل إلى الأصعب.</a:t>
            </a:r>
            <a:endParaRPr lang="ar-SA" sz="1400" dirty="0"/>
          </a:p>
        </p:txBody>
      </p:sp>
      <p:sp>
        <p:nvSpPr>
          <p:cNvPr id="9" name="طريقة ماذا لو؟"/>
          <p:cNvSpPr/>
          <p:nvPr/>
        </p:nvSpPr>
        <p:spPr>
          <a:xfrm>
            <a:off x="457200" y="1234440"/>
            <a:ext cx="3977640" cy="1463040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10" name="رقم طريقة 2"/>
          <p:cNvSpPr/>
          <p:nvPr/>
        </p:nvSpPr>
        <p:spPr>
          <a:xfrm>
            <a:off x="3794760" y="137160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رقم طريقة 2 label"/>
          <p:cNvSpPr txBox="1"/>
          <p:nvPr/>
        </p:nvSpPr>
        <p:spPr>
          <a:xfrm>
            <a:off x="37947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2</a:t>
            </a:r>
            <a:endParaRPr lang="ar-SA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13716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chemeClr val="tx1"/>
                </a:solidFill>
              </a:rPr>
              <a:t>ماذا لو؟</a:t>
            </a:r>
            <a:endParaRPr lang="ar-SA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192024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ماذا لو لم يكن هناك حد للوقت والمال؟ اقترح 5 أفكار جريئة ثم بسّط أفضلها.</a:t>
            </a:r>
            <a:endParaRPr lang="ar-SA" sz="1400" dirty="0"/>
          </a:p>
        </p:txBody>
      </p:sp>
      <p:sp>
        <p:nvSpPr>
          <p:cNvPr id="14" name="طريقة ادمجي فكرتين"/>
          <p:cNvSpPr/>
          <p:nvPr/>
        </p:nvSpPr>
        <p:spPr>
          <a:xfrm>
            <a:off x="4709160" y="2880360"/>
            <a:ext cx="3977640" cy="1463040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15" name="رقم طريقة 3"/>
          <p:cNvSpPr/>
          <p:nvPr/>
        </p:nvSpPr>
        <p:spPr>
          <a:xfrm>
            <a:off x="8046720" y="3017520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رقم طريقة 3 label"/>
          <p:cNvSpPr txBox="1"/>
          <p:nvPr/>
        </p:nvSpPr>
        <p:spPr>
          <a:xfrm>
            <a:off x="80467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3</a:t>
            </a:r>
            <a:endParaRPr lang="ar-SA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89204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chemeClr val="tx1"/>
                </a:solidFill>
              </a:rPr>
              <a:t>ادمجي فكرتين</a:t>
            </a:r>
            <a:endParaRPr lang="ar-SA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4892040" y="35661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ادمج [فكرة] مع [فكرة أخرى] في مشروع جديد واشرح كيف تخدم كل منهما الأخرى.</a:t>
            </a:r>
            <a:endParaRPr lang="ar-SA" sz="1400" dirty="0"/>
          </a:p>
        </p:txBody>
      </p:sp>
      <p:sp>
        <p:nvSpPr>
          <p:cNvPr id="19" name="طريقة اعكسي المشكلة"/>
          <p:cNvSpPr/>
          <p:nvPr/>
        </p:nvSpPr>
        <p:spPr>
          <a:xfrm>
            <a:off x="457200" y="2880360"/>
            <a:ext cx="3977640" cy="1463040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20" name="رقم طريقة 4"/>
          <p:cNvSpPr/>
          <p:nvPr/>
        </p:nvSpPr>
        <p:spPr>
          <a:xfrm>
            <a:off x="3794760" y="301752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رقم طريقة 4 label"/>
          <p:cNvSpPr txBox="1"/>
          <p:nvPr/>
        </p:nvSpPr>
        <p:spPr>
          <a:xfrm>
            <a:off x="37947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4</a:t>
            </a:r>
            <a:endParaRPr lang="ar-SA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3017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chemeClr val="tx1"/>
                </a:solidFill>
              </a:rPr>
              <a:t>اعكسي المشكلة</a:t>
            </a:r>
            <a:endParaRPr lang="ar-SA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" y="3566160"/>
            <a:ext cx="3611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كيف أجعل [المشكلة] أسوأ ما يمكن؟ ثم اعكس كل إجابة لتحصل على حل.</a:t>
            </a:r>
            <a:endParaRPr lang="ar-SA" sz="1400" dirty="0"/>
          </a:p>
        </p:txBody>
      </p:sp>
      <p:sp>
        <p:nvSpPr>
          <p:cNvPr id="24" name="زر القائمة"/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4617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القائمة الرئيسية</a:t>
            </a:r>
            <a:endParaRPr lang="ar-SA" sz="1200" dirty="0"/>
          </a:p>
        </p:txBody>
      </p:sp>
      <p:sp>
        <p:nvSpPr>
          <p:cNvPr id="26" name="رابط: العودة إلى القائمة الرئيسية">
            <a:hlinkClick r:id="rId3" action="ppaction://hlinksldjump" tooltip="العودة إلى القائمة الرئيسية"/>
          </p:cNvPr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0" y="47548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قبل أن تعتمدي الفكرة</a:t>
            </a:r>
            <a:endParaRPr lang="ar-SA" sz="3600" dirty="0"/>
          </a:p>
        </p:txBody>
      </p:sp>
      <p:sp>
        <p:nvSpPr>
          <p:cNvPr id="4" name="قاعدة تحققي"/>
          <p:cNvSpPr/>
          <p:nvPr/>
        </p:nvSpPr>
        <p:spPr>
          <a:xfrm>
            <a:off x="4709160" y="1234440"/>
            <a:ext cx="3977640" cy="1463040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5" name="رقم قاعدة 1"/>
          <p:cNvSpPr/>
          <p:nvPr/>
        </p:nvSpPr>
        <p:spPr>
          <a:xfrm>
            <a:off x="7863840" y="16002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رقم قاعدة 1 label"/>
          <p:cNvSpPr txBox="1"/>
          <p:nvPr/>
        </p:nvSpPr>
        <p:spPr>
          <a:xfrm>
            <a:off x="78638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200" b="1" dirty="0">
                <a:solidFill>
                  <a:schemeClr val="bg1"/>
                </a:solidFill>
              </a:rPr>
              <a:t>1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4892040" y="14173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chemeClr val="tx1"/>
                </a:solidFill>
              </a:rPr>
              <a:t>تحققي</a:t>
            </a:r>
            <a:endParaRPr lang="ar-SA" sz="2000" dirty="0"/>
          </a:p>
          <a:p>
            <a:pPr marL="0" indent="0" algn="r" rtl="1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تأكدي من المعلومة من الكتاب أو مصدر موثوق</a:t>
            </a:r>
            <a:endParaRPr lang="ar-SA" sz="2000" dirty="0"/>
          </a:p>
        </p:txBody>
      </p:sp>
      <p:sp>
        <p:nvSpPr>
          <p:cNvPr id="8" name="قاعدة عدّلي"/>
          <p:cNvSpPr/>
          <p:nvPr/>
        </p:nvSpPr>
        <p:spPr>
          <a:xfrm>
            <a:off x="457200" y="1234440"/>
            <a:ext cx="3977640" cy="1463040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9" name="رقم قاعدة 2"/>
          <p:cNvSpPr/>
          <p:nvPr/>
        </p:nvSpPr>
        <p:spPr>
          <a:xfrm>
            <a:off x="3611880" y="16002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رقم قاعدة 2 label"/>
          <p:cNvSpPr txBox="1"/>
          <p:nvPr/>
        </p:nvSpPr>
        <p:spPr>
          <a:xfrm>
            <a:off x="361188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200" b="1" dirty="0">
                <a:solidFill>
                  <a:schemeClr val="bg1"/>
                </a:solidFill>
              </a:rPr>
              <a:t>2</a:t>
            </a:r>
            <a:endParaRPr lang="ar-SA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14173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chemeClr val="tx1"/>
                </a:solidFill>
              </a:rPr>
              <a:t>عدّلي</a:t>
            </a:r>
            <a:endParaRPr lang="ar-SA" sz="2000" dirty="0"/>
          </a:p>
          <a:p>
            <a:pPr marL="0" indent="0" algn="r" rtl="1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أضيفي لمستك لتصبح الفكرة بصمتك أنتِ</a:t>
            </a:r>
            <a:endParaRPr lang="ar-SA" sz="2000" dirty="0"/>
          </a:p>
        </p:txBody>
      </p:sp>
      <p:sp>
        <p:nvSpPr>
          <p:cNvPr id="12" name="قاعدة اذكري"/>
          <p:cNvSpPr/>
          <p:nvPr/>
        </p:nvSpPr>
        <p:spPr>
          <a:xfrm>
            <a:off x="4709160" y="2880360"/>
            <a:ext cx="3977640" cy="1463040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13" name="رقم قاعدة 3"/>
          <p:cNvSpPr/>
          <p:nvPr/>
        </p:nvSpPr>
        <p:spPr>
          <a:xfrm>
            <a:off x="7863840" y="32461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رقم قاعدة 3 label"/>
          <p:cNvSpPr txBox="1"/>
          <p:nvPr/>
        </p:nvSpPr>
        <p:spPr>
          <a:xfrm>
            <a:off x="786384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200" b="1" dirty="0">
                <a:solidFill>
                  <a:schemeClr val="bg1"/>
                </a:solidFill>
              </a:rPr>
              <a:t>3</a:t>
            </a:r>
            <a:endParaRPr lang="ar-SA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30632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chemeClr val="tx1"/>
                </a:solidFill>
              </a:rPr>
              <a:t>اذكري</a:t>
            </a:r>
            <a:endParaRPr lang="ar-SA" sz="2000" dirty="0"/>
          </a:p>
          <a:p>
            <a:pPr marL="0" indent="0" algn="r" rtl="1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اذكري أنك استعنت بالذكاء الاصطناعي في عملك</a:t>
            </a:r>
            <a:endParaRPr lang="ar-SA" sz="2000" dirty="0"/>
          </a:p>
        </p:txBody>
      </p:sp>
      <p:sp>
        <p:nvSpPr>
          <p:cNvPr id="16" name="قاعدة احمي بياناتك"/>
          <p:cNvSpPr/>
          <p:nvPr/>
        </p:nvSpPr>
        <p:spPr>
          <a:xfrm>
            <a:off x="457200" y="2880360"/>
            <a:ext cx="3977640" cy="1463040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17" name="رقم قاعدة 4"/>
          <p:cNvSpPr/>
          <p:nvPr/>
        </p:nvSpPr>
        <p:spPr>
          <a:xfrm>
            <a:off x="3611880" y="324612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رقم قاعدة 4 label"/>
          <p:cNvSpPr txBox="1"/>
          <p:nvPr/>
        </p:nvSpPr>
        <p:spPr>
          <a:xfrm>
            <a:off x="3611880" y="3246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200" b="1" dirty="0">
                <a:solidFill>
                  <a:schemeClr val="bg1"/>
                </a:solidFill>
              </a:rPr>
              <a:t>4</a:t>
            </a:r>
            <a:endParaRPr lang="ar-SA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306324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chemeClr val="tx1"/>
                </a:solidFill>
              </a:rPr>
              <a:t>احمي بياناتك</a:t>
            </a:r>
            <a:endParaRPr lang="ar-SA" sz="2000" dirty="0"/>
          </a:p>
          <a:p>
            <a:pPr marL="0" indent="0" algn="r" rtl="1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لا تكتبي اسمك أو رقمك أو اسم مدرستك في الطلب</a:t>
            </a:r>
            <a:endParaRPr lang="ar-SA" sz="2000" dirty="0"/>
          </a:p>
        </p:txBody>
      </p:sp>
      <p:sp>
        <p:nvSpPr>
          <p:cNvPr id="20" name="زر القائمة"/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4617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القائمة الرئيسية</a:t>
            </a:r>
            <a:endParaRPr lang="ar-SA" sz="1200" dirty="0"/>
          </a:p>
        </p:txBody>
      </p:sp>
      <p:sp>
        <p:nvSpPr>
          <p:cNvPr id="22" name="رابط: العودة إلى القائمة الرئيسية">
            <a:hlinkClick r:id="rId3" action="ppaction://hlinksldjump" tooltip="العودة إلى القائمة الرئيسية"/>
          </p:cNvPr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0" y="47548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جربي الآن في ثلاث دقائق</a:t>
            </a:r>
            <a:endParaRPr lang="ar-SA" sz="3600" dirty="0"/>
          </a:p>
        </p:txBody>
      </p:sp>
      <p:sp>
        <p:nvSpPr>
          <p:cNvPr id="4" name="دائرة المؤقت"/>
          <p:cNvSpPr/>
          <p:nvPr/>
        </p:nvSpPr>
        <p:spPr>
          <a:xfrm>
            <a:off x="548640" y="1371600"/>
            <a:ext cx="2377440" cy="23774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37160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8000" b="1" dirty="0">
                <a:solidFill>
                  <a:schemeClr val="tx1"/>
                </a:solidFill>
              </a:rPr>
              <a:t>3</a:t>
            </a:r>
            <a:endParaRPr lang="ar-SA" sz="8000" dirty="0"/>
          </a:p>
          <a:p>
            <a:pPr marL="0" indent="0" algn="ctr" rtl="1">
              <a:buNone/>
            </a:pPr>
            <a:r>
              <a:rPr lang="ar-SA" altLang="en-US" sz="2200" b="1" dirty="0">
                <a:solidFill>
                  <a:schemeClr val="tx1"/>
                </a:solidFill>
              </a:rPr>
              <a:t>دقائق</a:t>
            </a:r>
            <a:endParaRPr lang="ar-SA" sz="8000" dirty="0"/>
          </a:p>
        </p:txBody>
      </p:sp>
      <p:sp>
        <p:nvSpPr>
          <p:cNvPr id="6" name="نشاط 1"/>
          <p:cNvSpPr/>
          <p:nvPr/>
        </p:nvSpPr>
        <p:spPr>
          <a:xfrm>
            <a:off x="3291840" y="1280160"/>
            <a:ext cx="5394960" cy="91440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7" name="رقم نشاط 1"/>
          <p:cNvSpPr/>
          <p:nvPr/>
        </p:nvSpPr>
        <p:spPr>
          <a:xfrm>
            <a:off x="7909560" y="14173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رقم نشاط 1 label"/>
          <p:cNvSpPr txBox="1"/>
          <p:nvPr/>
        </p:nvSpPr>
        <p:spPr>
          <a:xfrm>
            <a:off x="790956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200" b="1" dirty="0">
                <a:solidFill>
                  <a:schemeClr val="bg1"/>
                </a:solidFill>
              </a:rPr>
              <a:t>1</a:t>
            </a:r>
            <a:endParaRPr lang="ar-SA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12801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اختاري موضوعًا من دراستك أو مشروعك</a:t>
            </a:r>
            <a:endParaRPr lang="ar-SA" sz="1800" dirty="0"/>
          </a:p>
        </p:txBody>
      </p:sp>
      <p:sp>
        <p:nvSpPr>
          <p:cNvPr id="10" name="نشاط 2"/>
          <p:cNvSpPr/>
          <p:nvPr/>
        </p:nvSpPr>
        <p:spPr>
          <a:xfrm>
            <a:off x="3291840" y="2377440"/>
            <a:ext cx="5394960" cy="91440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11" name="رقم نشاط 2"/>
          <p:cNvSpPr/>
          <p:nvPr/>
        </p:nvSpPr>
        <p:spPr>
          <a:xfrm>
            <a:off x="7909560" y="251460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رقم نشاط 2 label"/>
          <p:cNvSpPr txBox="1"/>
          <p:nvPr/>
        </p:nvSpPr>
        <p:spPr>
          <a:xfrm>
            <a:off x="790956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200" b="1" dirty="0">
                <a:solidFill>
                  <a:schemeClr val="bg1"/>
                </a:solidFill>
              </a:rPr>
              <a:t>2</a:t>
            </a:r>
            <a:endParaRPr lang="ar-SA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23774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اكتبي طلبك بالمعادلة: الدور والموضوع والجمهور والعدد والشكل</a:t>
            </a:r>
            <a:endParaRPr lang="ar-SA" sz="1800" dirty="0"/>
          </a:p>
        </p:txBody>
      </p:sp>
      <p:sp>
        <p:nvSpPr>
          <p:cNvPr id="14" name="نشاط 3"/>
          <p:cNvSpPr/>
          <p:nvPr/>
        </p:nvSpPr>
        <p:spPr>
          <a:xfrm>
            <a:off x="3291840" y="3474720"/>
            <a:ext cx="5394960" cy="91440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15" name="رقم نشاط 3"/>
          <p:cNvSpPr/>
          <p:nvPr/>
        </p:nvSpPr>
        <p:spPr>
          <a:xfrm>
            <a:off x="7909560" y="361188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رقم نشاط 3 label"/>
          <p:cNvSpPr txBox="1"/>
          <p:nvPr/>
        </p:nvSpPr>
        <p:spPr>
          <a:xfrm>
            <a:off x="7909560" y="3611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200" b="1" dirty="0">
                <a:solidFill>
                  <a:schemeClr val="bg1"/>
                </a:solidFill>
              </a:rPr>
              <a:t>3</a:t>
            </a:r>
            <a:endParaRPr lang="ar-SA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34747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اختاري فكرة وطوّريها، ثم شاركيها مع زميلتك</a:t>
            </a:r>
            <a:endParaRPr lang="ar-SA" sz="1800" dirty="0"/>
          </a:p>
        </p:txBody>
      </p:sp>
      <p:sp>
        <p:nvSpPr>
          <p:cNvPr id="18" name="زر القائمة"/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4617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القائمة الرئيسية</a:t>
            </a:r>
            <a:endParaRPr lang="ar-SA" sz="1200" dirty="0"/>
          </a:p>
        </p:txBody>
      </p:sp>
      <p:sp>
        <p:nvSpPr>
          <p:cNvPr id="20" name="رابط: العودة إلى القائمة الرئيسية">
            <a:hlinkClick r:id="rId3" action="ppaction://hlinksldjump" tooltip="العودة إلى القائمة الرئيسية"/>
          </p:cNvPr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0" y="47548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أدوات نجربها اليوم</a:t>
            </a:r>
            <a:endParaRPr lang="ar-SA" sz="3600" dirty="0"/>
          </a:p>
        </p:txBody>
      </p:sp>
      <p:sp>
        <p:nvSpPr>
          <p:cNvPr id="4" name="أداة Kahoot"/>
          <p:cNvSpPr/>
          <p:nvPr/>
        </p:nvSpPr>
        <p:spPr>
          <a:xfrm>
            <a:off x="6126480" y="1234440"/>
            <a:ext cx="2560320" cy="1463040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5" name="شارة Kahoot"/>
          <p:cNvSpPr/>
          <p:nvPr/>
        </p:nvSpPr>
        <p:spPr>
          <a:xfrm>
            <a:off x="7909560" y="1417320"/>
            <a:ext cx="594360" cy="59436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شارة Kahoot label"/>
          <p:cNvSpPr txBox="1"/>
          <p:nvPr/>
        </p:nvSpPr>
        <p:spPr>
          <a:xfrm>
            <a:off x="790956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K</a:t>
            </a:r>
            <a:endParaRPr lang="ar-SA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Kahoot</a:t>
            </a:r>
            <a:endParaRPr lang="ar-SA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2423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dirty="0">
                <a:solidFill>
                  <a:schemeClr val="tx1"/>
                </a:solidFill>
              </a:rPr>
              <a:t>اختبارات ومسابقات قصيرة</a:t>
            </a:r>
            <a:endParaRPr lang="ar-SA" sz="1200" dirty="0"/>
          </a:p>
        </p:txBody>
      </p:sp>
      <p:sp>
        <p:nvSpPr>
          <p:cNvPr id="9" name="أداة Canva"/>
          <p:cNvSpPr/>
          <p:nvPr/>
        </p:nvSpPr>
        <p:spPr>
          <a:xfrm>
            <a:off x="3291840" y="1234440"/>
            <a:ext cx="2560320" cy="1463040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10" name="شارة Canva"/>
          <p:cNvSpPr/>
          <p:nvPr/>
        </p:nvSpPr>
        <p:spPr>
          <a:xfrm>
            <a:off x="5074920" y="14173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شارة Canva label"/>
          <p:cNvSpPr txBox="1"/>
          <p:nvPr/>
        </p:nvSpPr>
        <p:spPr>
          <a:xfrm>
            <a:off x="507492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C</a:t>
            </a:r>
            <a:endParaRPr lang="ar-SA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Canva</a:t>
            </a:r>
            <a:endParaRPr lang="ar-SA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474720" y="2423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dirty="0">
                <a:solidFill>
                  <a:schemeClr val="tx1"/>
                </a:solidFill>
              </a:rPr>
              <a:t>تصميم بطاقات وعروض</a:t>
            </a:r>
            <a:endParaRPr lang="ar-SA" sz="1200" dirty="0"/>
          </a:p>
        </p:txBody>
      </p:sp>
      <p:sp>
        <p:nvSpPr>
          <p:cNvPr id="14" name="أداة Padlet"/>
          <p:cNvSpPr/>
          <p:nvPr/>
        </p:nvSpPr>
        <p:spPr>
          <a:xfrm>
            <a:off x="457200" y="1234440"/>
            <a:ext cx="2560320" cy="1463040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15" name="شارة Padlet"/>
          <p:cNvSpPr/>
          <p:nvPr/>
        </p:nvSpPr>
        <p:spPr>
          <a:xfrm>
            <a:off x="2240280" y="141732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شارة Padlet label"/>
          <p:cNvSpPr txBox="1"/>
          <p:nvPr/>
        </p:nvSpPr>
        <p:spPr>
          <a:xfrm>
            <a:off x="224028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P</a:t>
            </a:r>
            <a:endParaRPr lang="ar-SA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2103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Padlet</a:t>
            </a:r>
            <a:endParaRPr lang="ar-SA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423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dirty="0">
                <a:solidFill>
                  <a:schemeClr val="tx1"/>
                </a:solidFill>
              </a:rPr>
              <a:t>لوحة أفكار مشتركة</a:t>
            </a:r>
            <a:endParaRPr lang="ar-SA" sz="1200" dirty="0"/>
          </a:p>
        </p:txBody>
      </p:sp>
      <p:sp>
        <p:nvSpPr>
          <p:cNvPr id="19" name="أداة Quizlet"/>
          <p:cNvSpPr/>
          <p:nvPr/>
        </p:nvSpPr>
        <p:spPr>
          <a:xfrm>
            <a:off x="6126480" y="2880360"/>
            <a:ext cx="2560320" cy="1463040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20" name="شارة Quizlet"/>
          <p:cNvSpPr/>
          <p:nvPr/>
        </p:nvSpPr>
        <p:spPr>
          <a:xfrm>
            <a:off x="7909560" y="3063240"/>
            <a:ext cx="594360" cy="59436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شارة Quizlet label"/>
          <p:cNvSpPr txBox="1"/>
          <p:nvPr/>
        </p:nvSpPr>
        <p:spPr>
          <a:xfrm>
            <a:off x="7909560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Q</a:t>
            </a:r>
            <a:endParaRPr lang="ar-SA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30936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Quizlet</a:t>
            </a:r>
            <a:endParaRPr lang="ar-SA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309360" y="4069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dirty="0">
                <a:solidFill>
                  <a:schemeClr val="tx1"/>
                </a:solidFill>
              </a:rPr>
              <a:t>بطاقات مراجعة وحفظ</a:t>
            </a:r>
            <a:endParaRPr lang="ar-SA" sz="1200" dirty="0"/>
          </a:p>
        </p:txBody>
      </p:sp>
      <p:sp>
        <p:nvSpPr>
          <p:cNvPr id="24" name="أداة Google Forms"/>
          <p:cNvSpPr/>
          <p:nvPr/>
        </p:nvSpPr>
        <p:spPr>
          <a:xfrm>
            <a:off x="3291840" y="2880360"/>
            <a:ext cx="2560320" cy="1463040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25" name="شارة Google Forms"/>
          <p:cNvSpPr/>
          <p:nvPr/>
        </p:nvSpPr>
        <p:spPr>
          <a:xfrm>
            <a:off x="5074920" y="3063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شارة Google Forms label"/>
          <p:cNvSpPr txBox="1"/>
          <p:nvPr/>
        </p:nvSpPr>
        <p:spPr>
          <a:xfrm>
            <a:off x="5074920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F</a:t>
            </a:r>
            <a:endParaRPr lang="ar-SA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347472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Google Forms</a:t>
            </a:r>
            <a:endParaRPr lang="ar-SA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3474720" y="4069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dirty="0">
                <a:solidFill>
                  <a:schemeClr val="tx1"/>
                </a:solidFill>
              </a:rPr>
              <a:t>استبانات واختبارات تصحح تلقائيًا</a:t>
            </a:r>
            <a:endParaRPr lang="ar-SA" sz="1200" dirty="0"/>
          </a:p>
        </p:txBody>
      </p:sp>
      <p:sp>
        <p:nvSpPr>
          <p:cNvPr id="29" name="أداة الذكاء الاصطناعي"/>
          <p:cNvSpPr/>
          <p:nvPr/>
        </p:nvSpPr>
        <p:spPr>
          <a:xfrm>
            <a:off x="457200" y="2880360"/>
            <a:ext cx="2560320" cy="1463040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30" name="شارة الذكاء الاصطناعي"/>
          <p:cNvSpPr/>
          <p:nvPr/>
        </p:nvSpPr>
        <p:spPr>
          <a:xfrm>
            <a:off x="2240280" y="306324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شارة الذكاء الاصطناعي label"/>
          <p:cNvSpPr txBox="1"/>
          <p:nvPr/>
        </p:nvSpPr>
        <p:spPr>
          <a:xfrm>
            <a:off x="2240280" y="3063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AI</a:t>
            </a:r>
            <a:endParaRPr lang="ar-SA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64008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الذكاء الاصطناعي</a:t>
            </a:r>
            <a:endParaRPr lang="ar-SA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4069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200" dirty="0">
                <a:solidFill>
                  <a:schemeClr val="tx1"/>
                </a:solidFill>
              </a:rPr>
              <a:t>أفكار وشرح مبسط</a:t>
            </a:r>
            <a:endParaRPr lang="ar-SA" sz="1200" dirty="0"/>
          </a:p>
        </p:txBody>
      </p:sp>
      <p:sp>
        <p:nvSpPr>
          <p:cNvPr id="34" name="زر القائمة"/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57200" y="4617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القائمة الرئيسية</a:t>
            </a:r>
            <a:endParaRPr lang="ar-SA" sz="1200" dirty="0"/>
          </a:p>
        </p:txBody>
      </p:sp>
      <p:sp>
        <p:nvSpPr>
          <p:cNvPr id="36" name="رابط: العودة إلى القائمة الرئيسية">
            <a:hlinkClick r:id="rId3" action="ppaction://hlinksldjump" tooltip="العودة إلى القائمة الرئيسية"/>
          </p:cNvPr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0" y="47548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تحدي العشر دقائق</a:t>
            </a:r>
            <a:endParaRPr lang="ar-SA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اختاري تحديًا، واسألي الذكاء الاصطناعي عن أفكار، ثم نفذي الفكرة بالأداة</a:t>
            </a:r>
            <a:endParaRPr lang="ar-SA" sz="1600" dirty="0"/>
          </a:p>
        </p:txBody>
      </p:sp>
      <p:sp>
        <p:nvSpPr>
          <p:cNvPr id="5" name="تحدي 1"/>
          <p:cNvSpPr/>
          <p:nvPr/>
        </p:nvSpPr>
        <p:spPr>
          <a:xfrm>
            <a:off x="4709160" y="1691640"/>
            <a:ext cx="3977640" cy="1188720"/>
          </a:xfrm>
          <a:prstGeom prst="roundRect">
            <a:avLst>
              <a:gd name="adj" fmla="val 1153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4937760" y="17830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بطاقة توعوية عن توفير المياه</a:t>
            </a:r>
            <a:endParaRPr lang="ar-SA" sz="1800" dirty="0"/>
          </a:p>
          <a:p>
            <a:pPr marL="0" indent="0" algn="r" rtl="1">
              <a:buNone/>
            </a:pPr>
            <a:r>
              <a:rPr lang="ar-SA" altLang="en-US" sz="1600" dirty="0">
                <a:solidFill>
                  <a:schemeClr val="bg1"/>
                </a:solidFill>
              </a:rPr>
              <a:t>الأداة: Canva</a:t>
            </a:r>
            <a:endParaRPr lang="ar-SA" sz="1800" dirty="0"/>
          </a:p>
        </p:txBody>
      </p:sp>
      <p:sp>
        <p:nvSpPr>
          <p:cNvPr id="7" name="تحدي 2"/>
          <p:cNvSpPr/>
          <p:nvPr/>
        </p:nvSpPr>
        <p:spPr>
          <a:xfrm>
            <a:off x="457200" y="1691640"/>
            <a:ext cx="3977640" cy="1188720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5800" y="17830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اختبار قصير عن حب القراءة</a:t>
            </a:r>
            <a:endParaRPr lang="ar-SA" sz="1800" dirty="0"/>
          </a:p>
          <a:p>
            <a:pPr marL="0" indent="0" algn="r" rtl="1">
              <a:buNone/>
            </a:pPr>
            <a:r>
              <a:rPr lang="ar-SA" altLang="en-US" sz="1600" dirty="0">
                <a:solidFill>
                  <a:schemeClr val="bg1"/>
                </a:solidFill>
              </a:rPr>
              <a:t>الأداة: Kahoot</a:t>
            </a:r>
            <a:endParaRPr lang="ar-SA" sz="1800" dirty="0"/>
          </a:p>
        </p:txBody>
      </p:sp>
      <p:sp>
        <p:nvSpPr>
          <p:cNvPr id="9" name="تحدي 3"/>
          <p:cNvSpPr/>
          <p:nvPr/>
        </p:nvSpPr>
        <p:spPr>
          <a:xfrm>
            <a:off x="4709160" y="3063240"/>
            <a:ext cx="3977640" cy="1188720"/>
          </a:xfrm>
          <a:prstGeom prst="roundRect">
            <a:avLst>
              <a:gd name="adj" fmla="val 1153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937760" y="31546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لوحة أفكار عن نظافة المدرسة</a:t>
            </a:r>
            <a:endParaRPr lang="ar-SA" sz="1800" dirty="0"/>
          </a:p>
          <a:p>
            <a:pPr marL="0" indent="0" algn="r" rtl="1">
              <a:buNone/>
            </a:pPr>
            <a:r>
              <a:rPr lang="ar-SA" altLang="en-US" sz="1600" dirty="0">
                <a:solidFill>
                  <a:schemeClr val="bg1"/>
                </a:solidFill>
              </a:rPr>
              <a:t>الأداة: Padlet</a:t>
            </a:r>
            <a:endParaRPr lang="ar-SA" sz="1800" dirty="0"/>
          </a:p>
        </p:txBody>
      </p:sp>
      <p:sp>
        <p:nvSpPr>
          <p:cNvPr id="11" name="تحدي 4"/>
          <p:cNvSpPr/>
          <p:nvPr/>
        </p:nvSpPr>
        <p:spPr>
          <a:xfrm>
            <a:off x="457200" y="3063240"/>
            <a:ext cx="3977640" cy="1188720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85800" y="31546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بطاقات مراجعة عن الغذاء الصحي</a:t>
            </a:r>
            <a:endParaRPr lang="ar-SA" sz="1800" dirty="0"/>
          </a:p>
          <a:p>
            <a:pPr marL="0" indent="0" algn="r" rtl="1">
              <a:buNone/>
            </a:pPr>
            <a:r>
              <a:rPr lang="ar-SA" altLang="en-US" sz="1600" dirty="0">
                <a:solidFill>
                  <a:schemeClr val="tx1"/>
                </a:solidFill>
              </a:rPr>
              <a:t>الأداة: Quizlet</a:t>
            </a:r>
            <a:endParaRPr lang="ar-SA" sz="1800" dirty="0"/>
          </a:p>
        </p:txBody>
      </p:sp>
      <p:sp>
        <p:nvSpPr>
          <p:cNvPr id="13" name="زر اختبري نفسك"/>
          <p:cNvSpPr/>
          <p:nvPr/>
        </p:nvSpPr>
        <p:spPr>
          <a:xfrm>
            <a:off x="6675120" y="4480560"/>
            <a:ext cx="2011680" cy="411480"/>
          </a:xfrm>
          <a:prstGeom prst="roundRect">
            <a:avLst>
              <a:gd name="adj" fmla="val 3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675120" y="44805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اختبري نفسك</a:t>
            </a:r>
            <a:endParaRPr lang="ar-SA" sz="1800" dirty="0"/>
          </a:p>
        </p:txBody>
      </p:sp>
      <p:sp>
        <p:nvSpPr>
          <p:cNvPr id="15" name="رابط: الانتقال إلى الاختبار">
            <a:hlinkClick r:id="rId3" action="ppaction://hlinksldjump" tooltip="الانتقال إلى الاختبار"/>
          </p:cNvPr>
          <p:cNvSpPr/>
          <p:nvPr/>
        </p:nvSpPr>
        <p:spPr>
          <a:xfrm>
            <a:off x="6675120" y="4480560"/>
            <a:ext cx="2011680" cy="411480"/>
          </a:xfrm>
          <a:prstGeom prst="roundRect">
            <a:avLst>
              <a:gd name="adj" fmla="val 33333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6" name="زر القائمة"/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4617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القائمة الرئيسية</a:t>
            </a:r>
            <a:endParaRPr lang="ar-SA" sz="1200" dirty="0"/>
          </a:p>
        </p:txBody>
      </p:sp>
      <p:sp>
        <p:nvSpPr>
          <p:cNvPr id="18" name="رابط: العودة إلى القائمة الرئيسية">
            <a:hlinkClick r:id="rId4" action="ppaction://hlinksldjump" tooltip="العودة إلى القائمة الرئيسية"/>
          </p:cNvPr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0" y="47548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اختبري نفسك (1 من 2)</a:t>
            </a:r>
            <a:endParaRPr lang="ar-SA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b="1" dirty="0">
                <a:solidFill>
                  <a:schemeClr val="tx1"/>
                </a:solidFill>
              </a:rPr>
              <a:t>أعطاك الذكاء الاصطناعي خمس أفكار لمشروعك. ما الخطوة الأهم الآن؟</a:t>
            </a:r>
            <a:endParaRPr lang="ar-SA" sz="2200" dirty="0"/>
          </a:p>
        </p:txBody>
      </p:sp>
      <p:sp>
        <p:nvSpPr>
          <p:cNvPr id="5" name="خيار أ"/>
          <p:cNvSpPr/>
          <p:nvPr/>
        </p:nvSpPr>
        <p:spPr>
          <a:xfrm>
            <a:off x="457200" y="1965960"/>
            <a:ext cx="8229600" cy="731520"/>
          </a:xfrm>
          <a:prstGeom prst="roundRect">
            <a:avLst>
              <a:gd name="adj" fmla="val 187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6" name="حرف أ"/>
          <p:cNvSpPr/>
          <p:nvPr/>
        </p:nvSpPr>
        <p:spPr>
          <a:xfrm>
            <a:off x="8046720" y="2057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حرف أ label"/>
          <p:cNvSpPr txBox="1"/>
          <p:nvPr/>
        </p:nvSpPr>
        <p:spPr>
          <a:xfrm>
            <a:off x="80467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أ</a:t>
            </a:r>
            <a:endParaRPr lang="ar-SA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9659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أنسخ أفكاره كما هي</a:t>
            </a:r>
            <a:endParaRPr lang="ar-SA" sz="1800" dirty="0"/>
          </a:p>
        </p:txBody>
      </p:sp>
      <p:sp>
        <p:nvSpPr>
          <p:cNvPr id="9" name="رابط: الخيار أ">
            <a:hlinkClick r:id="rId3" action="ppaction://hlinksldjump" tooltip="الخيار أ"/>
          </p:cNvPr>
          <p:cNvSpPr/>
          <p:nvPr/>
        </p:nvSpPr>
        <p:spPr>
          <a:xfrm>
            <a:off x="457200" y="1965960"/>
            <a:ext cx="8229600" cy="731520"/>
          </a:xfrm>
          <a:prstGeom prst="roundRect">
            <a:avLst>
              <a:gd name="adj" fmla="val 18750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0" name="خيار ب"/>
          <p:cNvSpPr/>
          <p:nvPr/>
        </p:nvSpPr>
        <p:spPr>
          <a:xfrm>
            <a:off x="457200" y="2834640"/>
            <a:ext cx="8229600" cy="731520"/>
          </a:xfrm>
          <a:prstGeom prst="roundRect">
            <a:avLst>
              <a:gd name="adj" fmla="val 187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11" name="حرف ب"/>
          <p:cNvSpPr/>
          <p:nvPr/>
        </p:nvSpPr>
        <p:spPr>
          <a:xfrm>
            <a:off x="8046720" y="29260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حرف ب label"/>
          <p:cNvSpPr txBox="1"/>
          <p:nvPr/>
        </p:nvSpPr>
        <p:spPr>
          <a:xfrm>
            <a:off x="804672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ب</a:t>
            </a:r>
            <a:endParaRPr lang="ar-SA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28346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أتحقق من المعلومات وأعدل الفكرة لتصبح بصمتي</a:t>
            </a:r>
            <a:endParaRPr lang="ar-SA" sz="1800" dirty="0"/>
          </a:p>
        </p:txBody>
      </p:sp>
      <p:sp>
        <p:nvSpPr>
          <p:cNvPr id="14" name="رابط: الخيار ب">
            <a:hlinkClick r:id="rId4" action="ppaction://hlinksldjump" tooltip="الخيار ب"/>
          </p:cNvPr>
          <p:cNvSpPr/>
          <p:nvPr/>
        </p:nvSpPr>
        <p:spPr>
          <a:xfrm>
            <a:off x="457200" y="2834640"/>
            <a:ext cx="8229600" cy="731520"/>
          </a:xfrm>
          <a:prstGeom prst="roundRect">
            <a:avLst>
              <a:gd name="adj" fmla="val 18750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5" name="خيار ج"/>
          <p:cNvSpPr/>
          <p:nvPr/>
        </p:nvSpPr>
        <p:spPr>
          <a:xfrm>
            <a:off x="457200" y="3703320"/>
            <a:ext cx="8229600" cy="731520"/>
          </a:xfrm>
          <a:prstGeom prst="roundRect">
            <a:avLst>
              <a:gd name="adj" fmla="val 187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16" name="حرف ج"/>
          <p:cNvSpPr/>
          <p:nvPr/>
        </p:nvSpPr>
        <p:spPr>
          <a:xfrm>
            <a:off x="8046720" y="3794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حرف ج label"/>
          <p:cNvSpPr txBox="1"/>
          <p:nvPr/>
        </p:nvSpPr>
        <p:spPr>
          <a:xfrm>
            <a:off x="804672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ج</a:t>
            </a:r>
            <a:endParaRPr lang="ar-SA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3703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أرسل الأفكار كلها دون قراءتها</a:t>
            </a:r>
            <a:endParaRPr lang="ar-SA" sz="1800" dirty="0"/>
          </a:p>
        </p:txBody>
      </p:sp>
      <p:sp>
        <p:nvSpPr>
          <p:cNvPr id="19" name="رابط: الخيار ج">
            <a:hlinkClick r:id="rId3" action="ppaction://hlinksldjump" tooltip="الخيار ج"/>
          </p:cNvPr>
          <p:cNvSpPr/>
          <p:nvPr/>
        </p:nvSpPr>
        <p:spPr>
          <a:xfrm>
            <a:off x="457200" y="3703320"/>
            <a:ext cx="8229600" cy="731520"/>
          </a:xfrm>
          <a:prstGeom prst="roundRect">
            <a:avLst>
              <a:gd name="adj" fmla="val 18750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20" name="زر القائمة"/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4617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القائمة الرئيسية</a:t>
            </a:r>
            <a:endParaRPr lang="ar-SA" sz="1200" dirty="0"/>
          </a:p>
        </p:txBody>
      </p:sp>
      <p:sp>
        <p:nvSpPr>
          <p:cNvPr id="22" name="رابط: العودة إلى القائمة الرئيسية">
            <a:hlinkClick r:id="rId5" action="ppaction://hlinksldjump" tooltip="العودة إلى القائمة الرئيسية"/>
          </p:cNvPr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0" y="47548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أحسنتِ!</a:t>
            </a:r>
            <a:endParaRPr lang="ar-SA" sz="3600" dirty="0"/>
          </a:p>
        </p:txBody>
      </p:sp>
      <p:sp>
        <p:nvSpPr>
          <p:cNvPr id="3" name="بطاقة إجابة صحيحة"/>
          <p:cNvSpPr/>
          <p:nvPr/>
        </p:nvSpPr>
        <p:spPr>
          <a:xfrm>
            <a:off x="457200" y="1371600"/>
            <a:ext cx="8229600" cy="2011680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400" dirty="0">
                <a:solidFill>
                  <a:schemeClr val="tx1"/>
                </a:solidFill>
              </a:rPr>
              <a:t>الذكاء الاصطناعي قد يخطئ. تحققي من المعلومة، وعدّلي الفكرة لتصبح بصمتك أنتِ.</a:t>
            </a:r>
            <a:endParaRPr lang="ar-SA" sz="2400" dirty="0"/>
          </a:p>
        </p:txBody>
      </p:sp>
      <p:sp>
        <p:nvSpPr>
          <p:cNvPr id="5" name="زر السؤال التالي"/>
          <p:cNvSpPr/>
          <p:nvPr/>
        </p:nvSpPr>
        <p:spPr>
          <a:xfrm>
            <a:off x="6400800" y="3749040"/>
            <a:ext cx="2286000" cy="594360"/>
          </a:xfrm>
          <a:prstGeom prst="roundRect">
            <a:avLst>
              <a:gd name="adj" fmla="val 2307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3749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السؤال التالي</a:t>
            </a:r>
            <a:endParaRPr lang="ar-SA" sz="1800" dirty="0"/>
          </a:p>
        </p:txBody>
      </p:sp>
      <p:sp>
        <p:nvSpPr>
          <p:cNvPr id="7" name="رابط: السؤال التالي">
            <a:hlinkClick r:id="rId3" action="ppaction://hlinksldjump" tooltip="السؤال التالي"/>
          </p:cNvPr>
          <p:cNvSpPr/>
          <p:nvPr/>
        </p:nvSpPr>
        <p:spPr>
          <a:xfrm>
            <a:off x="6400800" y="3749040"/>
            <a:ext cx="2286000" cy="594360"/>
          </a:xfrm>
          <a:prstGeom prst="roundRect">
            <a:avLst>
              <a:gd name="adj" fmla="val 23077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8" name="زر القائمة"/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4617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القائمة الرئيسية</a:t>
            </a:r>
            <a:endParaRPr lang="ar-SA" sz="1200" dirty="0"/>
          </a:p>
        </p:txBody>
      </p:sp>
      <p:sp>
        <p:nvSpPr>
          <p:cNvPr id="10" name="رابط: العودة إلى القائمة الرئيسية">
            <a:hlinkClick r:id="rId4" action="ppaction://hlinksldjump" tooltip="العودة إلى القائمة الرئيسية"/>
          </p:cNvPr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0" y="47548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ليست دقيقة</a:t>
            </a:r>
            <a:endParaRPr lang="ar-SA" sz="3600" dirty="0"/>
          </a:p>
        </p:txBody>
      </p:sp>
      <p:sp>
        <p:nvSpPr>
          <p:cNvPr id="3" name="بطاقة إجابة غير دقيقة"/>
          <p:cNvSpPr/>
          <p:nvPr/>
        </p:nvSpPr>
        <p:spPr>
          <a:xfrm>
            <a:off x="457200" y="1371600"/>
            <a:ext cx="8229600" cy="2011680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400" dirty="0">
                <a:solidFill>
                  <a:schemeClr val="tx1"/>
                </a:solidFill>
              </a:rPr>
              <a:t>نسخ الأفكار كما هي أو إرسالها دون قراءة قد ينقل أخطاء. الخطوة الأهم هي التحقق والتعديل.</a:t>
            </a:r>
            <a:endParaRPr lang="ar-SA" sz="2400" dirty="0"/>
          </a:p>
        </p:txBody>
      </p:sp>
      <p:sp>
        <p:nvSpPr>
          <p:cNvPr id="5" name="زر حاولي مرة أخرى"/>
          <p:cNvSpPr/>
          <p:nvPr/>
        </p:nvSpPr>
        <p:spPr>
          <a:xfrm>
            <a:off x="6400800" y="3749040"/>
            <a:ext cx="2286000" cy="594360"/>
          </a:xfrm>
          <a:prstGeom prst="roundRect">
            <a:avLst>
              <a:gd name="adj" fmla="val 2307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3749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حاولي مرة أخرى</a:t>
            </a:r>
            <a:endParaRPr lang="ar-SA" sz="1800" dirty="0"/>
          </a:p>
        </p:txBody>
      </p:sp>
      <p:sp>
        <p:nvSpPr>
          <p:cNvPr id="7" name="رابط: حاولي مرة أخرى">
            <a:hlinkClick r:id="rId3" action="ppaction://hlinksldjump" tooltip="حاولي مرة أخرى"/>
          </p:cNvPr>
          <p:cNvSpPr/>
          <p:nvPr/>
        </p:nvSpPr>
        <p:spPr>
          <a:xfrm>
            <a:off x="6400800" y="3749040"/>
            <a:ext cx="2286000" cy="594360"/>
          </a:xfrm>
          <a:prstGeom prst="roundRect">
            <a:avLst>
              <a:gd name="adj" fmla="val 23077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8" name="زر القائمة"/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4617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القائمة الرئيسية</a:t>
            </a:r>
            <a:endParaRPr lang="ar-SA" sz="1200" dirty="0"/>
          </a:p>
        </p:txBody>
      </p:sp>
      <p:sp>
        <p:nvSpPr>
          <p:cNvPr id="10" name="رابط: العودة إلى القائمة الرئيسية">
            <a:hlinkClick r:id="rId4" action="ppaction://hlinksldjump" tooltip="العودة إلى القائمة الرئيسية"/>
          </p:cNvPr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0" y="47548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اختبري نفسك (2 من 2)</a:t>
            </a:r>
            <a:endParaRPr lang="ar-SA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200" b="1" dirty="0">
                <a:solidFill>
                  <a:schemeClr val="tx1"/>
                </a:solidFill>
              </a:rPr>
              <a:t>ما الذي يمكنك كتابته في طلبك للذكاء الاصطناعي؟</a:t>
            </a:r>
            <a:endParaRPr lang="ar-SA" sz="2200" dirty="0"/>
          </a:p>
        </p:txBody>
      </p:sp>
      <p:sp>
        <p:nvSpPr>
          <p:cNvPr id="5" name="خيار أ"/>
          <p:cNvSpPr/>
          <p:nvPr/>
        </p:nvSpPr>
        <p:spPr>
          <a:xfrm>
            <a:off x="457200" y="1965960"/>
            <a:ext cx="8229600" cy="731520"/>
          </a:xfrm>
          <a:prstGeom prst="roundRect">
            <a:avLst>
              <a:gd name="adj" fmla="val 187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6" name="حرف أ"/>
          <p:cNvSpPr/>
          <p:nvPr/>
        </p:nvSpPr>
        <p:spPr>
          <a:xfrm>
            <a:off x="8046720" y="2057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حرف أ label"/>
          <p:cNvSpPr txBox="1"/>
          <p:nvPr/>
        </p:nvSpPr>
        <p:spPr>
          <a:xfrm>
            <a:off x="80467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أ</a:t>
            </a:r>
            <a:endParaRPr lang="ar-SA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9659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اسمي ورقم هاتفي</a:t>
            </a:r>
            <a:endParaRPr lang="ar-SA" sz="1800" dirty="0"/>
          </a:p>
        </p:txBody>
      </p:sp>
      <p:sp>
        <p:nvSpPr>
          <p:cNvPr id="9" name="رابط: الخيار أ">
            <a:hlinkClick r:id="rId3" action="ppaction://hlinksldjump" tooltip="الخيار أ"/>
          </p:cNvPr>
          <p:cNvSpPr/>
          <p:nvPr/>
        </p:nvSpPr>
        <p:spPr>
          <a:xfrm>
            <a:off x="457200" y="1965960"/>
            <a:ext cx="8229600" cy="731520"/>
          </a:xfrm>
          <a:prstGeom prst="roundRect">
            <a:avLst>
              <a:gd name="adj" fmla="val 18750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0" name="خيار ب"/>
          <p:cNvSpPr/>
          <p:nvPr/>
        </p:nvSpPr>
        <p:spPr>
          <a:xfrm>
            <a:off x="457200" y="2834640"/>
            <a:ext cx="8229600" cy="731520"/>
          </a:xfrm>
          <a:prstGeom prst="roundRect">
            <a:avLst>
              <a:gd name="adj" fmla="val 187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11" name="حرف ب"/>
          <p:cNvSpPr/>
          <p:nvPr/>
        </p:nvSpPr>
        <p:spPr>
          <a:xfrm>
            <a:off x="8046720" y="29260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حرف ب label"/>
          <p:cNvSpPr txBox="1"/>
          <p:nvPr/>
        </p:nvSpPr>
        <p:spPr>
          <a:xfrm>
            <a:off x="804672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ب</a:t>
            </a:r>
            <a:endParaRPr lang="ar-SA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28346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اسم مدرستي وعنواني</a:t>
            </a:r>
            <a:endParaRPr lang="ar-SA" sz="1800" dirty="0"/>
          </a:p>
        </p:txBody>
      </p:sp>
      <p:sp>
        <p:nvSpPr>
          <p:cNvPr id="14" name="رابط: الخيار ب">
            <a:hlinkClick r:id="rId3" action="ppaction://hlinksldjump" tooltip="الخيار ب"/>
          </p:cNvPr>
          <p:cNvSpPr/>
          <p:nvPr/>
        </p:nvSpPr>
        <p:spPr>
          <a:xfrm>
            <a:off x="457200" y="2834640"/>
            <a:ext cx="8229600" cy="731520"/>
          </a:xfrm>
          <a:prstGeom prst="roundRect">
            <a:avLst>
              <a:gd name="adj" fmla="val 18750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15" name="خيار ج"/>
          <p:cNvSpPr/>
          <p:nvPr/>
        </p:nvSpPr>
        <p:spPr>
          <a:xfrm>
            <a:off x="457200" y="3703320"/>
            <a:ext cx="8229600" cy="731520"/>
          </a:xfrm>
          <a:prstGeom prst="roundRect">
            <a:avLst>
              <a:gd name="adj" fmla="val 187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16" name="حرف ج"/>
          <p:cNvSpPr/>
          <p:nvPr/>
        </p:nvSpPr>
        <p:spPr>
          <a:xfrm>
            <a:off x="8046720" y="3794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حرف ج label"/>
          <p:cNvSpPr txBox="1"/>
          <p:nvPr/>
        </p:nvSpPr>
        <p:spPr>
          <a:xfrm>
            <a:off x="804672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ج</a:t>
            </a:r>
            <a:endParaRPr lang="ar-SA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37033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800" dirty="0">
                <a:solidFill>
                  <a:schemeClr val="tx1"/>
                </a:solidFill>
              </a:rPr>
              <a:t>موضوع مشروعي وما أحتاجه منه</a:t>
            </a:r>
            <a:endParaRPr lang="ar-SA" sz="1800" dirty="0"/>
          </a:p>
        </p:txBody>
      </p:sp>
      <p:sp>
        <p:nvSpPr>
          <p:cNvPr id="19" name="رابط: الخيار ج">
            <a:hlinkClick r:id="rId4" action="ppaction://hlinksldjump" tooltip="الخيار ج"/>
          </p:cNvPr>
          <p:cNvSpPr/>
          <p:nvPr/>
        </p:nvSpPr>
        <p:spPr>
          <a:xfrm>
            <a:off x="457200" y="3703320"/>
            <a:ext cx="8229600" cy="731520"/>
          </a:xfrm>
          <a:prstGeom prst="roundRect">
            <a:avLst>
              <a:gd name="adj" fmla="val 18750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20" name="زر القائمة"/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4617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القائمة الرئيسية</a:t>
            </a:r>
            <a:endParaRPr lang="ar-SA" sz="1200" dirty="0"/>
          </a:p>
        </p:txBody>
      </p:sp>
      <p:sp>
        <p:nvSpPr>
          <p:cNvPr id="22" name="رابط: العودة إلى القائمة الرئيسية">
            <a:hlinkClick r:id="rId5" action="ppaction://hlinksldjump" tooltip="العودة إلى القائمة الرئيسية"/>
          </p:cNvPr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0" y="47548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أحسنتِ!</a:t>
            </a:r>
            <a:endParaRPr lang="ar-SA" sz="3600" dirty="0"/>
          </a:p>
        </p:txBody>
      </p:sp>
      <p:sp>
        <p:nvSpPr>
          <p:cNvPr id="3" name="بطاقة إجابة صحيحة"/>
          <p:cNvSpPr/>
          <p:nvPr/>
        </p:nvSpPr>
        <p:spPr>
          <a:xfrm>
            <a:off x="457200" y="1371600"/>
            <a:ext cx="8229600" cy="2011680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400" dirty="0">
                <a:solidFill>
                  <a:schemeClr val="tx1"/>
                </a:solidFill>
              </a:rPr>
              <a:t>اكتبي موضوعك وما تحتاجينه فقط، واحتفظي ببياناتك الشخصية لنفسك.</a:t>
            </a:r>
            <a:endParaRPr lang="ar-SA" sz="2400" dirty="0"/>
          </a:p>
        </p:txBody>
      </p:sp>
      <p:sp>
        <p:nvSpPr>
          <p:cNvPr id="5" name="زر ماذا بعد الدورة؟"/>
          <p:cNvSpPr/>
          <p:nvPr/>
        </p:nvSpPr>
        <p:spPr>
          <a:xfrm>
            <a:off x="6400800" y="3749040"/>
            <a:ext cx="2286000" cy="594360"/>
          </a:xfrm>
          <a:prstGeom prst="roundRect">
            <a:avLst>
              <a:gd name="adj" fmla="val 2307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3749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ماذا بعد الدورة؟</a:t>
            </a:r>
            <a:endParaRPr lang="ar-SA" sz="1800" dirty="0"/>
          </a:p>
        </p:txBody>
      </p:sp>
      <p:sp>
        <p:nvSpPr>
          <p:cNvPr id="7" name="رابط: ماذا بعد الدورة؟">
            <a:hlinkClick r:id="rId3" action="ppaction://hlinksldjump" tooltip="ماذا بعد الدورة؟"/>
          </p:cNvPr>
          <p:cNvSpPr/>
          <p:nvPr/>
        </p:nvSpPr>
        <p:spPr>
          <a:xfrm>
            <a:off x="6400800" y="3749040"/>
            <a:ext cx="2286000" cy="594360"/>
          </a:xfrm>
          <a:prstGeom prst="roundRect">
            <a:avLst>
              <a:gd name="adj" fmla="val 23077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8" name="زر القائمة"/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4617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القائمة الرئيسية</a:t>
            </a:r>
            <a:endParaRPr lang="ar-SA" sz="1200" dirty="0"/>
          </a:p>
        </p:txBody>
      </p:sp>
      <p:sp>
        <p:nvSpPr>
          <p:cNvPr id="10" name="رابط: العودة إلى القائمة الرئيسية">
            <a:hlinkClick r:id="rId4" action="ppaction://hlinksldjump" tooltip="العودة إلى القائمة الرئيسية"/>
          </p:cNvPr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0" y="47548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ليست دقيقة</a:t>
            </a:r>
            <a:endParaRPr lang="ar-SA" sz="3600" dirty="0"/>
          </a:p>
        </p:txBody>
      </p:sp>
      <p:sp>
        <p:nvSpPr>
          <p:cNvPr id="3" name="بطاقة إجابة غير دقيقة"/>
          <p:cNvSpPr/>
          <p:nvPr/>
        </p:nvSpPr>
        <p:spPr>
          <a:xfrm>
            <a:off x="457200" y="1371600"/>
            <a:ext cx="8229600" cy="2011680"/>
          </a:xfrm>
          <a:prstGeom prst="roundRect">
            <a:avLst>
              <a:gd name="adj" fmla="val 681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400" dirty="0">
                <a:solidFill>
                  <a:schemeClr val="tx1"/>
                </a:solidFill>
              </a:rPr>
              <a:t>الاسم والهاتف واسم المدرسة بيانات شخصية، لا تشاركيها مع أي أداة.</a:t>
            </a:r>
            <a:endParaRPr lang="ar-SA" sz="2400" dirty="0"/>
          </a:p>
        </p:txBody>
      </p:sp>
      <p:sp>
        <p:nvSpPr>
          <p:cNvPr id="5" name="زر حاولي مرة أخرى"/>
          <p:cNvSpPr/>
          <p:nvPr/>
        </p:nvSpPr>
        <p:spPr>
          <a:xfrm>
            <a:off x="6400800" y="3749040"/>
            <a:ext cx="2286000" cy="594360"/>
          </a:xfrm>
          <a:prstGeom prst="roundRect">
            <a:avLst>
              <a:gd name="adj" fmla="val 2307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0" y="3749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800" b="1" dirty="0">
                <a:solidFill>
                  <a:schemeClr val="bg1"/>
                </a:solidFill>
              </a:rPr>
              <a:t>حاولي مرة أخرى</a:t>
            </a:r>
            <a:endParaRPr lang="ar-SA" sz="1800" dirty="0"/>
          </a:p>
        </p:txBody>
      </p:sp>
      <p:sp>
        <p:nvSpPr>
          <p:cNvPr id="7" name="رابط: حاولي مرة أخرى">
            <a:hlinkClick r:id="rId3" action="ppaction://hlinksldjump" tooltip="حاولي مرة أخرى"/>
          </p:cNvPr>
          <p:cNvSpPr/>
          <p:nvPr/>
        </p:nvSpPr>
        <p:spPr>
          <a:xfrm>
            <a:off x="6400800" y="3749040"/>
            <a:ext cx="2286000" cy="594360"/>
          </a:xfrm>
          <a:prstGeom prst="roundRect">
            <a:avLst>
              <a:gd name="adj" fmla="val 23077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8" name="زر القائمة"/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4617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القائمة الرئيسية</a:t>
            </a:r>
            <a:endParaRPr lang="ar-SA" sz="1200" dirty="0"/>
          </a:p>
        </p:txBody>
      </p:sp>
      <p:sp>
        <p:nvSpPr>
          <p:cNvPr id="10" name="رابط: العودة إلى القائمة الرئيسية">
            <a:hlinkClick r:id="rId4" action="ppaction://hlinksldjump" tooltip="العودة إلى القائمة الرئيسية"/>
          </p:cNvPr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0" y="47548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3600" b="1" dirty="0">
                <a:solidFill>
                  <a:schemeClr val="tx1"/>
                </a:solidFill>
              </a:rPr>
              <a:t>ماذا بعد الدورة؟</a:t>
            </a:r>
            <a:endParaRPr lang="ar-SA" sz="3600" dirty="0"/>
          </a:p>
        </p:txBody>
      </p:sp>
      <p:sp>
        <p:nvSpPr>
          <p:cNvPr id="4" name="لوحة كيف نقيس الأثر؟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411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5" name="رأس كيف نقيس الأثر؟"/>
          <p:cNvSpPr/>
          <p:nvPr/>
        </p:nvSpPr>
        <p:spPr>
          <a:xfrm>
            <a:off x="4663440" y="1188720"/>
            <a:ext cx="4023360" cy="54864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892040" y="1188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كيف نقيس الأثر؟</a:t>
            </a:r>
            <a:endParaRPr lang="ar-SA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4892040" y="1874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chemeClr val="accent1"/>
                </a:solidFill>
              </a:rPr>
              <a:t>رضاك</a:t>
            </a:r>
            <a:endParaRPr lang="ar-SA" sz="1600" dirty="0"/>
          </a:p>
          <a:p>
            <a:pPr marL="0" indent="0" algn="r" rtl="1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استبانة في نهاية الدورة</a:t>
            </a:r>
            <a:endParaRPr lang="ar-SA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892040" y="253288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chemeClr val="accent1"/>
                </a:solidFill>
              </a:rPr>
              <a:t>تعلمك</a:t>
            </a:r>
            <a:endParaRPr lang="ar-SA" sz="1600" dirty="0"/>
          </a:p>
          <a:p>
            <a:pPr marL="0" indent="0" algn="r" rtl="1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اختبار قبلي وبعدي</a:t>
            </a:r>
            <a:endParaRPr lang="ar-SA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319125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chemeClr val="accent1"/>
                </a:solidFill>
              </a:rPr>
              <a:t>استخدامك</a:t>
            </a:r>
            <a:endParaRPr lang="ar-SA" sz="1600" dirty="0"/>
          </a:p>
          <a:p>
            <a:pPr marL="0" indent="0" algn="r" rtl="1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متابعة بعد أسبوعين وشهر</a:t>
            </a:r>
            <a:endParaRPr lang="ar-SA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892040" y="384962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chemeClr val="accent1"/>
                </a:solidFill>
              </a:rPr>
              <a:t>نتائجك</a:t>
            </a:r>
            <a:endParaRPr lang="ar-SA" sz="1600" dirty="0"/>
          </a:p>
          <a:p>
            <a:pPr marL="0" indent="0" algn="r" rtl="1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المشاركة والدرجات بعد فصل</a:t>
            </a:r>
            <a:endParaRPr lang="ar-SA" sz="1600" dirty="0"/>
          </a:p>
        </p:txBody>
      </p:sp>
      <p:sp>
        <p:nvSpPr>
          <p:cNvPr id="11" name="لوحة كيف نستمر؟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411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blurRad="127000" dist="25400" dir="5400000" algn="bl" rotWithShape="0">
              <a:srgbClr val="6D4AF0">
                <a:alpha val="18000"/>
              </a:srgbClr>
            </a:outerShdw>
          </a:effectLst>
        </p:spPr>
      </p:sp>
      <p:sp>
        <p:nvSpPr>
          <p:cNvPr id="12" name="رأس كيف نستمر؟"/>
          <p:cNvSpPr/>
          <p:nvPr/>
        </p:nvSpPr>
        <p:spPr>
          <a:xfrm>
            <a:off x="457200" y="1188720"/>
            <a:ext cx="4023360" cy="548640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1188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كيف نستمر؟</a:t>
            </a:r>
            <a:endParaRPr lang="ar-SA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18745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chemeClr val="accent3"/>
                </a:solidFill>
              </a:rPr>
              <a:t>بعد أسبوع</a:t>
            </a:r>
            <a:endParaRPr lang="ar-SA" sz="1600" dirty="0"/>
          </a:p>
          <a:p>
            <a:pPr marL="0" indent="0" algn="r" rtl="1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تحدي الأسبوع</a:t>
            </a:r>
            <a:endParaRPr lang="ar-SA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2532888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chemeClr val="accent3"/>
                </a:solidFill>
              </a:rPr>
              <a:t>بعد شهر</a:t>
            </a:r>
            <a:endParaRPr lang="ar-SA" sz="1600" dirty="0"/>
          </a:p>
          <a:p>
            <a:pPr marL="0" indent="0" algn="r" rtl="1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لقاء متابعة</a:t>
            </a:r>
            <a:endParaRPr lang="ar-SA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3191256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chemeClr val="accent3"/>
                </a:solidFill>
              </a:rPr>
              <a:t>بعد 3 أشهر</a:t>
            </a:r>
            <a:endParaRPr lang="ar-SA" sz="1600" dirty="0"/>
          </a:p>
          <a:p>
            <a:pPr marL="0" indent="0" algn="r" rtl="1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قياس ثانٍ للأثر</a:t>
            </a:r>
            <a:endParaRPr lang="ar-SA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3849624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1600" b="1" dirty="0">
                <a:solidFill>
                  <a:schemeClr val="accent3"/>
                </a:solidFill>
              </a:rPr>
              <a:t>نهاية الفصل</a:t>
            </a:r>
            <a:endParaRPr lang="ar-SA" sz="1600" dirty="0"/>
          </a:p>
          <a:p>
            <a:pPr marL="0" indent="0" algn="r" rtl="1">
              <a:buNone/>
            </a:pPr>
            <a:r>
              <a:rPr lang="ar-SA" altLang="en-US" sz="1400" dirty="0">
                <a:solidFill>
                  <a:schemeClr val="tx1"/>
                </a:solidFill>
              </a:rPr>
              <a:t>عرض قصص النجاح</a:t>
            </a:r>
            <a:endParaRPr lang="ar-SA" sz="1600" dirty="0"/>
          </a:p>
        </p:txBody>
      </p:sp>
      <p:sp>
        <p:nvSpPr>
          <p:cNvPr id="18" name="زر القائمة"/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4617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200" b="1" dirty="0">
                <a:solidFill>
                  <a:schemeClr val="bg1"/>
                </a:solidFill>
              </a:rPr>
              <a:t>القائمة الرئيسية</a:t>
            </a:r>
            <a:endParaRPr lang="ar-SA" sz="1200" dirty="0"/>
          </a:p>
        </p:txBody>
      </p:sp>
      <p:sp>
        <p:nvSpPr>
          <p:cNvPr id="20" name="رابط: العودة إلى القائمة الرئيسية">
            <a:hlinkClick r:id="rId3" action="ppaction://hlinksldjump" tooltip="العودة إلى القائمة الرئيسية"/>
          </p:cNvPr>
          <p:cNvSpPr/>
          <p:nvPr/>
        </p:nvSpPr>
        <p:spPr>
          <a:xfrm>
            <a:off x="457200" y="4617720"/>
            <a:ext cx="1371600" cy="365760"/>
          </a:xfrm>
          <a:prstGeom prst="roundRect">
            <a:avLst>
              <a:gd name="adj" fmla="val 37500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114800" y="47548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algn="ct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دائرة أدوات"/>
          <p:cNvSpPr/>
          <p:nvPr/>
        </p:nvSpPr>
        <p:spPr>
          <a:xfrm>
            <a:off x="411480" y="502920"/>
            <a:ext cx="2286000" cy="22860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دائرة أدوات label"/>
          <p:cNvSpPr txBox="1"/>
          <p:nvPr/>
        </p:nvSpPr>
        <p:spPr>
          <a:xfrm>
            <a:off x="411480" y="50292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2000" b="1" dirty="0">
                <a:solidFill>
                  <a:schemeClr val="bg1"/>
                </a:solidFill>
              </a:rPr>
              <a:t>أدوات</a:t>
            </a:r>
            <a:endParaRPr lang="ar-SA" sz="2000" dirty="0"/>
          </a:p>
        </p:txBody>
      </p:sp>
      <p:sp>
        <p:nvSpPr>
          <p:cNvPr id="4" name="دائرة أفكار"/>
          <p:cNvSpPr/>
          <p:nvPr/>
        </p:nvSpPr>
        <p:spPr>
          <a:xfrm>
            <a:off x="1828800" y="2423160"/>
            <a:ext cx="1325880" cy="1325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دائرة أفكار label"/>
          <p:cNvSpPr txBox="1"/>
          <p:nvPr/>
        </p:nvSpPr>
        <p:spPr>
          <a:xfrm>
            <a:off x="1828800" y="2423160"/>
            <a:ext cx="1325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أفكار</a:t>
            </a:r>
            <a:endParaRPr lang="ar-SA" sz="1800" dirty="0"/>
          </a:p>
        </p:txBody>
      </p:sp>
      <p:sp>
        <p:nvSpPr>
          <p:cNvPr id="6" name="دائرة إبداع"/>
          <p:cNvSpPr/>
          <p:nvPr/>
        </p:nvSpPr>
        <p:spPr>
          <a:xfrm>
            <a:off x="548640" y="3246120"/>
            <a:ext cx="1143000" cy="11430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دائرة إبداع label"/>
          <p:cNvSpPr txBox="1"/>
          <p:nvPr/>
        </p:nvSpPr>
        <p:spPr>
          <a:xfrm>
            <a:off x="548640" y="324612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600" b="1" dirty="0">
                <a:solidFill>
                  <a:schemeClr val="bg1"/>
                </a:solidFill>
              </a:rPr>
              <a:t>إبداع</a:t>
            </a:r>
            <a:endParaRPr lang="ar-SA" sz="1600" dirty="0"/>
          </a:p>
        </p:txBody>
      </p:sp>
      <p:sp>
        <p:nvSpPr>
          <p:cNvPr id="8" name="دائرة صغيرة"/>
          <p:cNvSpPr/>
          <p:nvPr/>
        </p:nvSpPr>
        <p:spPr>
          <a:xfrm>
            <a:off x="2331720" y="777240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0"/>
          <p:cNvSpPr>
            <a:spLocks noGrp="1"/>
          </p:cNvSpPr>
          <p:nvPr>
            <p:ph type="title" idx="100" hasCustomPrompt="1"/>
          </p:nvPr>
        </p:nvSpPr>
        <p:spPr>
          <a:xfrm>
            <a:off x="3108960" y="105156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4400" b="1" dirty="0">
                <a:solidFill>
                  <a:schemeClr val="bg1"/>
                </a:solidFill>
              </a:rPr>
              <a:t>تعهدي الأسبوعي</a:t>
            </a:r>
            <a:endParaRPr lang="ar-SA" sz="4400" dirty="0"/>
          </a:p>
        </p:txBody>
      </p:sp>
      <p:sp>
        <p:nvSpPr>
          <p:cNvPr id="10" name="Text 0"/>
          <p:cNvSpPr>
            <a:spLocks noGrp="1"/>
          </p:cNvSpPr>
          <p:nvPr>
            <p:ph type="body" idx="101" hasCustomPrompt="1"/>
          </p:nvPr>
        </p:nvSpPr>
        <p:spPr>
          <a:xfrm>
            <a:off x="3108960" y="269748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buNone/>
            </a:pPr>
            <a:r>
              <a:rPr lang="ar-SA" altLang="en-US" sz="2600" b="1" dirty="0">
                <a:solidFill>
                  <a:schemeClr val="accent4"/>
                </a:solidFill>
              </a:rPr>
              <a:t>أتعهد أن أستخدم أداة واحدة هذا الأسبوع في دراستي</a:t>
            </a:r>
            <a:endParaRPr lang="ar-SA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361188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 rtl="1">
              <a:buNone/>
            </a:pPr>
            <a:r>
              <a:rPr lang="ar-SA" altLang="en-US" sz="2000" dirty="0">
                <a:solidFill>
                  <a:schemeClr val="bg1"/>
                </a:solidFill>
              </a:rPr>
              <a:t>شكرًا لكن  |  أ. أحلام وأ. أمل</a:t>
            </a:r>
            <a:endParaRPr lang="ar-SA" sz="2000" dirty="0"/>
          </a:p>
        </p:txBody>
      </p:sp>
      <p:sp>
        <p:nvSpPr>
          <p:cNvPr id="12" name="زر القائمة الرئيسية"/>
          <p:cNvSpPr/>
          <p:nvPr/>
        </p:nvSpPr>
        <p:spPr>
          <a:xfrm>
            <a:off x="6400800" y="4206240"/>
            <a:ext cx="2286000" cy="548640"/>
          </a:xfrm>
          <a:prstGeom prst="roundRect">
            <a:avLst>
              <a:gd name="adj" fmla="val 25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4206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rtl="1">
              <a:buNone/>
            </a:pPr>
            <a:r>
              <a:rPr lang="ar-SA" altLang="en-US" sz="1800" b="1" dirty="0">
                <a:solidFill>
                  <a:schemeClr val="tx1"/>
                </a:solidFill>
              </a:rPr>
              <a:t>القائمة الرئيسية</a:t>
            </a:r>
            <a:endParaRPr lang="ar-SA" sz="1800" dirty="0"/>
          </a:p>
        </p:txBody>
      </p:sp>
      <p:sp>
        <p:nvSpPr>
          <p:cNvPr id="14" name="رابط: القائمة الرئيسية">
            <a:hlinkClick r:id="rId3" action="ppaction://hlinksldjump" tooltip="القائمة الرئيسية"/>
          </p:cNvPr>
          <p:cNvSpPr/>
          <p:nvPr/>
        </p:nvSpPr>
        <p:spPr>
          <a:xfrm>
            <a:off x="6400800" y="4206240"/>
            <a:ext cx="2286000" cy="548640"/>
          </a:xfrm>
          <a:prstGeom prst="roundRect">
            <a:avLst>
              <a:gd name="adj" fmla="val 25000"/>
            </a:avLst>
          </a:prstGeom>
          <a:solidFill>
            <a:schemeClr val="bg1">
              <a:alpha val="0"/>
            </a:schemeClr>
          </a:solidFill>
          <a:ln w="12700">
            <a:solidFill>
              <a:schemeClr val="bg1">
                <a:alpha val="0"/>
              </a:scheme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Tech Edu Bright">
  <a:themeElements>
    <a:clrScheme name="Tech Edu Bright">
      <a:dk1>
        <a:srgbClr val="231C4D"/>
      </a:dk1>
      <a:lt1>
        <a:srgbClr val="FFFFFF"/>
      </a:lt1>
      <a:dk2>
        <a:srgbClr val="4A2FCB"/>
      </a:dk2>
      <a:lt2>
        <a:srgbClr val="F3EEFF"/>
      </a:lt2>
      <a:accent1>
        <a:srgbClr val="6D4AF0"/>
      </a:accent1>
      <a:accent2>
        <a:srgbClr val="E0306B"/>
      </a:accent2>
      <a:accent3>
        <a:srgbClr val="0B8F83"/>
      </a:accent3>
      <a:accent4>
        <a:srgbClr val="FFB81F"/>
      </a:accent4>
      <a:accent5>
        <a:srgbClr val="1F78E0"/>
      </a:accent5>
      <a:accent6>
        <a:srgbClr val="8A3FE0"/>
      </a:accent6>
      <a:hlink>
        <a:srgbClr val="4A2FCB"/>
      </a:hlink>
      <a:folHlink>
        <a:srgbClr val="8A3FE0"/>
      </a:folHlink>
    </a:clrScheme>
    <a:fontScheme name="Tech Edu Brigh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عرض على الشاشة (16:9)</PresentationFormat>
  <Paragraphs>0</Paragraphs>
  <Slides>19</Slides>
  <Notes>19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19</vt:i4>
      </vt:variant>
    </vt:vector>
  </HeadingPairs>
  <TitlesOfParts>
    <vt:vector size="20" baseType="lpstr">
      <vt:lpstr>Tech Edu Bright</vt:lpstr>
      <vt:lpstr>التكنولوجيا في التعليم</vt:lpstr>
      <vt:lpstr>ماذا نتعلم اليوم؟</vt:lpstr>
      <vt:lpstr>هدفنا اليوم</vt:lpstr>
      <vt:lpstr>التقنية صديقتي في الدراسة</vt:lpstr>
      <vt:lpstr>الذكاء الاصطناعي شريكك في التفكير</vt:lpstr>
      <vt:lpstr>اكتبي طلبًا ناجحًا</vt:lpstr>
      <vt:lpstr>أربع طرق لتوليد الأفكار</vt:lpstr>
      <vt:lpstr>قبل أن تعتمدي الفكرة</vt:lpstr>
      <vt:lpstr>جربي الآن في ثلاث دقائق</vt:lpstr>
      <vt:lpstr>أدوات نجربها اليوم</vt:lpstr>
      <vt:lpstr>تحدي العشر دقائق</vt:lpstr>
      <vt:lpstr>اختبري نفسك (1 من 2)</vt:lpstr>
      <vt:lpstr>أحسنتِ!</vt:lpstr>
      <vt:lpstr>ليست دقيقة</vt:lpstr>
      <vt:lpstr>اختبري نفسك (2 من 2)</vt:lpstr>
      <vt:lpstr>أحسنتِ!</vt:lpstr>
      <vt:lpstr>ليست دقيقة</vt:lpstr>
      <vt:lpstr>ماذا بعد الدورة؟</vt:lpstr>
      <vt:lpstr>تعهدي الأسبوعي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التكنولوجيا في التعليم</dc:title>
  <dc:subject>PptxGenJS Presentation</dc:subject>
  <dc:creator>أ. أحلام وأ. أمل</dc:creator>
  <cp:lastModifiedBy>امل عبدالله الشهري</cp:lastModifiedBy>
  <cp:revision>2</cp:revision>
  <dcterms:created xsi:type="dcterms:W3CDTF">2026-10-04T09:40:07Z</dcterms:created>
  <dcterms:modified xsi:type="dcterms:W3CDTF">2026-10-04T09:42:14Z</dcterms:modified>
</cp:coreProperties>
</file>